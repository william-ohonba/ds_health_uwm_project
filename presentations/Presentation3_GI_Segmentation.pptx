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6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EC2243-9FC8-EFF8-8E55-835714F918AC}" v="255" dt="2026-04-08T12:35:04.717"/>
    <p1510:client id="{FC9A214F-9EC5-439C-2241-D7964AECA157}" v="1212" dt="2026-04-08T14:06:40.0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6CB11-266D-4885-8A56-8FA3B81410EF}" type="datetimeFigureOut"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B3518-9E01-4168-ABBB-9315D761E0E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1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EFB04-8EE0-DCF7-9A84-541E7074E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B98EA-C002-94EC-3069-97D99D4F0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F9695-D57F-71AA-9219-7855D4C17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A12CE-4375-54BE-CEAD-59D4628EBB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5594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1F365-CC87-9CB6-238A-AAAAC51D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0CB03E-1FC6-C2CA-5D92-B57E6DBA7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48D94-3BC6-AA28-FF4F-F830953A2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44E8-8790-C795-2A9B-24B5E2FF4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481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05840"/>
            <a:ext cx="73152" cy="3108960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058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UW-Madison GI Tract Image Segmentation</a:t>
            </a:r>
            <a:endParaRPr lang="en-US" sz="280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3 — Model Architecture &amp; Training Results</a:t>
            </a:r>
            <a:endParaRPr lang="en-US" sz="170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D4B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Ohonba   ·   Sofia Rojas   ·   Peyton Wade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 State University   |   Spring 2026</a:t>
            </a:r>
            <a:endParaRPr lang="en-US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68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>
          <a:xfrm>
            <a:off x="886968" y="86868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86868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Recap &amp; Update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320040" y="219456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194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886968" y="219456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78408" y="219456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(U-Net)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320040" y="352044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5204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/>
          </a:p>
        </p:txBody>
      </p:sp>
      <p:sp>
        <p:nvSpPr>
          <p:cNvPr id="14" name="Shape 12"/>
          <p:cNvSpPr/>
          <p:nvPr/>
        </p:nvSpPr>
        <p:spPr>
          <a:xfrm>
            <a:off x="886968" y="352044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52044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Validation Results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663440" y="86868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868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/>
          </a:p>
        </p:txBody>
      </p:sp>
      <p:sp>
        <p:nvSpPr>
          <p:cNvPr id="18" name="Shape 16"/>
          <p:cNvSpPr/>
          <p:nvPr/>
        </p:nvSpPr>
        <p:spPr>
          <a:xfrm>
            <a:off x="5230368" y="86868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321808" y="86868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Interpretation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4663440" y="219456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194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/>
          </a:p>
        </p:txBody>
      </p:sp>
      <p:sp>
        <p:nvSpPr>
          <p:cNvPr id="22" name="Shape 20"/>
          <p:cNvSpPr/>
          <p:nvPr/>
        </p:nvSpPr>
        <p:spPr>
          <a:xfrm>
            <a:off x="5230368" y="219456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1808" y="219456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Improvements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75488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35204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/>
          </a:p>
        </p:txBody>
      </p:sp>
      <p:sp>
        <p:nvSpPr>
          <p:cNvPr id="26" name="Shape 24"/>
          <p:cNvSpPr/>
          <p:nvPr/>
        </p:nvSpPr>
        <p:spPr>
          <a:xfrm>
            <a:off x="5230368" y="3520440"/>
            <a:ext cx="3566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321808" y="352044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Remarks &amp; Next Steps</a:t>
            </a:r>
            <a:endParaRPr lang="en-US" sz="14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EBAF4A-74D3-4B25-98CA-73BD00B23C65}"/>
              </a:ext>
            </a:extLst>
          </p:cNvPr>
          <p:cNvSpPr txBox="1"/>
          <p:nvPr/>
        </p:nvSpPr>
        <p:spPr>
          <a:xfrm>
            <a:off x="8877586" y="4898571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2</a:t>
            </a:r>
            <a:endParaRPr lang="en-US" sz="1000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Project Recap &amp; Update</a:t>
            </a:r>
            <a:endParaRPr lang="en-US" sz="240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233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4023360" cy="365760"/>
          </a:xfrm>
          <a:prstGeom prst="rect">
            <a:avLst/>
          </a:prstGeom>
          <a:solidFill>
            <a:srgbClr val="A0243C"/>
          </a:solidFill>
          <a:ln w="12700">
            <a:solidFill>
              <a:srgbClr val="A024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22960"/>
            <a:ext cx="384048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Last Presentation</a:t>
            </a: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3749040" cy="1371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Outlined the dataset anatomy with its </a:t>
            </a:r>
            <a:r>
              <a:rPr lang="en-US" sz="1250" err="1">
                <a:solidFill>
                  <a:srgbClr val="1A1A1A"/>
                </a:solidFill>
                <a:ea typeface="Calibri"/>
                <a:cs typeface="Calibri"/>
              </a:rPr>
              <a:t>atributes</a:t>
            </a: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 and specifications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Established the necessary loss function (DICE and HAUSDORFF)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Went through </a:t>
            </a:r>
            <a:r>
              <a:rPr lang="en-US" sz="1250" err="1">
                <a:solidFill>
                  <a:srgbClr val="1A1A1A"/>
                </a:solidFill>
                <a:ea typeface="Calibri"/>
                <a:cs typeface="Calibri"/>
              </a:rPr>
              <a:t>Dataloader</a:t>
            </a: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 Preprocessing and Verification Process</a:t>
            </a:r>
          </a:p>
        </p:txBody>
      </p:sp>
      <p:sp>
        <p:nvSpPr>
          <p:cNvPr id="8" name="Shape 6"/>
          <p:cNvSpPr/>
          <p:nvPr/>
        </p:nvSpPr>
        <p:spPr>
          <a:xfrm>
            <a:off x="4800600" y="822960"/>
            <a:ext cx="40233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822960"/>
            <a:ext cx="4023360" cy="365760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822960"/>
            <a:ext cx="384048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3D0C1F"/>
                </a:solidFill>
                <a:latin typeface="Calibri"/>
                <a:ea typeface="Calibri"/>
                <a:cs typeface="Calibri"/>
              </a:rPr>
              <a:t>This Presentation</a:t>
            </a: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261872"/>
            <a:ext cx="3657600" cy="1371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Established the 2D U-Net Baseline for initial segmentation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Used a 2.5D Stack with 3 Slices as input channel for pseudo-3D </a:t>
            </a:r>
            <a:r>
              <a:rPr lang="en-US" sz="1250" err="1">
                <a:solidFill>
                  <a:srgbClr val="1A1A1A"/>
                </a:solidFill>
                <a:ea typeface="Calibri"/>
                <a:cs typeface="Calibri"/>
              </a:rPr>
              <a:t>spacial</a:t>
            </a: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 context</a:t>
            </a:r>
          </a:p>
          <a:p>
            <a:pPr marL="285750" indent="-285750"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Implemented </a:t>
            </a:r>
            <a:r>
              <a:rPr lang="en-US" sz="1250" err="1">
                <a:solidFill>
                  <a:srgbClr val="1A1A1A"/>
                </a:solidFill>
                <a:ea typeface="Calibri"/>
                <a:cs typeface="Calibri"/>
              </a:rPr>
              <a:t>calcStats.json</a:t>
            </a:r>
            <a:r>
              <a:rPr lang="en-US" sz="1250">
                <a:solidFill>
                  <a:srgbClr val="1A1A1A"/>
                </a:solidFill>
                <a:ea typeface="Calibri"/>
                <a:cs typeface="Calibri"/>
              </a:rPr>
              <a:t> to standardize validation</a:t>
            </a:r>
          </a:p>
          <a:p>
            <a:endParaRPr lang="en-US" sz="1250">
              <a:solidFill>
                <a:srgbClr val="1A1A1A"/>
              </a:solidFill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0040" y="2944368"/>
            <a:ext cx="1965960" cy="96012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0040" y="294436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38,496</a:t>
            </a:r>
            <a:endParaRPr lang="en-US" sz="2200"/>
          </a:p>
        </p:txBody>
      </p:sp>
      <p:sp>
        <p:nvSpPr>
          <p:cNvPr id="14" name="Text 12"/>
          <p:cNvSpPr/>
          <p:nvPr/>
        </p:nvSpPr>
        <p:spPr>
          <a:xfrm>
            <a:off x="320040" y="344728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D4B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Slices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2468880" y="2944368"/>
            <a:ext cx="1965960" cy="96012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68880" y="294436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2200"/>
          </a:p>
        </p:txBody>
      </p:sp>
      <p:sp>
        <p:nvSpPr>
          <p:cNvPr id="17" name="Text 15"/>
          <p:cNvSpPr/>
          <p:nvPr/>
        </p:nvSpPr>
        <p:spPr>
          <a:xfrm>
            <a:off x="2468880" y="344728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D4B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617720" y="2944368"/>
            <a:ext cx="1965960" cy="96012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17720" y="294436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/>
          </a:p>
        </p:txBody>
      </p:sp>
      <p:sp>
        <p:nvSpPr>
          <p:cNvPr id="20" name="Text 18"/>
          <p:cNvSpPr/>
          <p:nvPr/>
        </p:nvSpPr>
        <p:spPr>
          <a:xfrm>
            <a:off x="4617720" y="344728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D4B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6766560" y="2944368"/>
            <a:ext cx="1965960" cy="960120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66560" y="294436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2.47 GB</a:t>
            </a:r>
            <a:endParaRPr lang="en-US" sz="2200"/>
          </a:p>
        </p:txBody>
      </p:sp>
      <p:sp>
        <p:nvSpPr>
          <p:cNvPr id="23" name="Text 21"/>
          <p:cNvSpPr/>
          <p:nvPr/>
        </p:nvSpPr>
        <p:spPr>
          <a:xfrm>
            <a:off x="6766560" y="344728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D4B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Size</a:t>
            </a:r>
            <a:endParaRPr lang="en-US" sz="11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C2F7B3-C6EB-6C36-8A41-AFA68AA68622}"/>
              </a:ext>
            </a:extLst>
          </p:cNvPr>
          <p:cNvSpPr txBox="1"/>
          <p:nvPr/>
        </p:nvSpPr>
        <p:spPr>
          <a:xfrm>
            <a:off x="8877586" y="4898571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3</a:t>
            </a:r>
            <a:endParaRPr lang="en-US" sz="1000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|  Model Architecture — U-Net</a:t>
            </a:r>
            <a:endParaRPr lang="en-US" sz="240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1188720" cy="47548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005840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[B,1,320,320]</a:t>
            </a:r>
            <a:endParaRPr lang="en-US" sz="900"/>
          </a:p>
        </p:txBody>
      </p:sp>
      <p:sp>
        <p:nvSpPr>
          <p:cNvPr id="6" name="Shape 4"/>
          <p:cNvSpPr/>
          <p:nvPr/>
        </p:nvSpPr>
        <p:spPr>
          <a:xfrm>
            <a:off x="1600200" y="1005840"/>
            <a:ext cx="1097280" cy="475488"/>
          </a:xfrm>
          <a:prstGeom prst="rect">
            <a:avLst/>
          </a:prstGeom>
          <a:solidFill>
            <a:srgbClr val="8B2A48"/>
          </a:solidFill>
          <a:ln w="12700">
            <a:solidFill>
              <a:srgbClr val="8B2A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00200" y="100584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 1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2697480" y="1243584"/>
            <a:ext cx="1828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80360" y="1207008"/>
            <a:ext cx="1097280" cy="457200"/>
          </a:xfrm>
          <a:prstGeom prst="rect">
            <a:avLst/>
          </a:prstGeom>
          <a:solidFill>
            <a:srgbClr val="7A2040"/>
          </a:solidFill>
          <a:ln w="12700">
            <a:solidFill>
              <a:srgbClr val="7A2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1207008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 2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ch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3977640" y="1435608"/>
            <a:ext cx="1828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0520" y="1408176"/>
            <a:ext cx="1097280" cy="438912"/>
          </a:xfrm>
          <a:prstGeom prst="rect">
            <a:avLst/>
          </a:prstGeom>
          <a:solidFill>
            <a:srgbClr val="681638"/>
          </a:solidFill>
          <a:ln w="12700">
            <a:solidFill>
              <a:srgbClr val="681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1408176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 3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ch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5257800" y="1627632"/>
            <a:ext cx="18288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609344"/>
            <a:ext cx="1097280" cy="420624"/>
          </a:xfrm>
          <a:prstGeom prst="rect">
            <a:avLst/>
          </a:prstGeom>
          <a:solidFill>
            <a:srgbClr val="3D0C1F"/>
          </a:solidFill>
          <a:ln w="12700">
            <a:solidFill>
              <a:srgbClr val="3D0C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40680" y="1609344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ch</a:t>
            </a:r>
            <a:endParaRPr lang="en-US" sz="900"/>
          </a:p>
        </p:txBody>
      </p:sp>
      <p:sp>
        <p:nvSpPr>
          <p:cNvPr id="17" name="Shape 15"/>
          <p:cNvSpPr/>
          <p:nvPr/>
        </p:nvSpPr>
        <p:spPr>
          <a:xfrm>
            <a:off x="1600200" y="1243584"/>
            <a:ext cx="0" cy="1280160"/>
          </a:xfrm>
          <a:prstGeom prst="line">
            <a:avLst/>
          </a:prstGeom>
          <a:noFill/>
          <a:ln w="12700">
            <a:solidFill>
              <a:srgbClr val="CEB888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60120" y="141732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800"/>
          </a:p>
          <a:p>
            <a:pPr marL="0" indent="0" algn="ctr">
              <a:buNone/>
            </a:pPr>
            <a:r>
              <a:rPr lang="en-US" sz="800" i="1">
                <a:solidFill>
                  <a:srgbClr val="CEB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800"/>
          </a:p>
        </p:txBody>
      </p:sp>
      <p:sp>
        <p:nvSpPr>
          <p:cNvPr id="19" name="Shape 17"/>
          <p:cNvSpPr/>
          <p:nvPr/>
        </p:nvSpPr>
        <p:spPr>
          <a:xfrm>
            <a:off x="4892040" y="1956816"/>
            <a:ext cx="1097280" cy="420624"/>
          </a:xfrm>
          <a:prstGeom prst="rect">
            <a:avLst/>
          </a:prstGeom>
          <a:solidFill>
            <a:srgbClr val="681638"/>
          </a:solidFill>
          <a:ln w="12700">
            <a:solidFill>
              <a:srgbClr val="6816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956816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3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ch</a:t>
            </a:r>
            <a:endParaRPr lang="en-US" sz="900"/>
          </a:p>
        </p:txBody>
      </p:sp>
      <p:sp>
        <p:nvSpPr>
          <p:cNvPr id="21" name="Shape 19"/>
          <p:cNvSpPr/>
          <p:nvPr/>
        </p:nvSpPr>
        <p:spPr>
          <a:xfrm>
            <a:off x="5989320" y="2167128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1755648"/>
            <a:ext cx="1097280" cy="438912"/>
          </a:xfrm>
          <a:prstGeom prst="rect">
            <a:avLst/>
          </a:prstGeom>
          <a:solidFill>
            <a:srgbClr val="7A2040"/>
          </a:solidFill>
          <a:ln w="12700">
            <a:solidFill>
              <a:srgbClr val="7A2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1755648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ch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7223760" y="1975104"/>
            <a:ext cx="137160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60920" y="1554480"/>
            <a:ext cx="1097280" cy="457200"/>
          </a:xfrm>
          <a:prstGeom prst="rect">
            <a:avLst/>
          </a:prstGeom>
          <a:solidFill>
            <a:srgbClr val="8B2A48"/>
          </a:solidFill>
          <a:ln w="12700">
            <a:solidFill>
              <a:srgbClr val="8B2A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60920" y="15544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1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900"/>
          </a:p>
        </p:txBody>
      </p:sp>
      <p:sp>
        <p:nvSpPr>
          <p:cNvPr id="27" name="Shape 25"/>
          <p:cNvSpPr/>
          <p:nvPr/>
        </p:nvSpPr>
        <p:spPr>
          <a:xfrm>
            <a:off x="7726680" y="1005840"/>
            <a:ext cx="1188720" cy="475488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26680" y="1005840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[B,3,320,320]</a:t>
            </a:r>
            <a:endParaRPr lang="en-US" sz="900"/>
          </a:p>
        </p:txBody>
      </p:sp>
      <p:sp>
        <p:nvSpPr>
          <p:cNvPr id="29" name="Shape 27"/>
          <p:cNvSpPr/>
          <p:nvPr/>
        </p:nvSpPr>
        <p:spPr>
          <a:xfrm>
            <a:off x="228600" y="2606040"/>
            <a:ext cx="2788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28600" y="2606040"/>
            <a:ext cx="2788920" cy="329184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2606040"/>
            <a:ext cx="2606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338328" y="2999232"/>
            <a:ext cx="2578608" cy="1828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Input: [B, 1, 224, 224]</a:t>
            </a:r>
            <a:endParaRPr lang="en-US" sz="115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float32 (μ=0, σ=1)</a:t>
            </a:r>
            <a:endParaRPr lang="en-US" sz="1150"/>
          </a:p>
          <a:p>
            <a:pPr marL="0" indent="0">
              <a:buNone/>
            </a:pP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[B, 3, 320, 320]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binary sigmoid masks</a:t>
            </a:r>
            <a:endParaRPr lang="en-US" sz="1150"/>
          </a:p>
        </p:txBody>
      </p:sp>
      <p:sp>
        <p:nvSpPr>
          <p:cNvPr id="33" name="Shape 31"/>
          <p:cNvSpPr/>
          <p:nvPr/>
        </p:nvSpPr>
        <p:spPr>
          <a:xfrm>
            <a:off x="3200400" y="2606040"/>
            <a:ext cx="2788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2606040"/>
            <a:ext cx="2788920" cy="329184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2606040"/>
            <a:ext cx="2606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Details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3310128" y="2999232"/>
            <a:ext cx="257860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U-Net (encoder-decoder)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 preserve edges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Norm + ReLU per block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backbone: EfficientNet-B4</a:t>
            </a:r>
            <a:endParaRPr lang="en-US" sz="1150"/>
          </a:p>
        </p:txBody>
      </p:sp>
      <p:sp>
        <p:nvSpPr>
          <p:cNvPr id="37" name="Shape 35"/>
          <p:cNvSpPr/>
          <p:nvPr/>
        </p:nvSpPr>
        <p:spPr>
          <a:xfrm>
            <a:off x="6172200" y="2606040"/>
            <a:ext cx="2788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72200" y="2606040"/>
            <a:ext cx="2788920" cy="329184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63640" y="2606040"/>
            <a:ext cx="2606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2.5D Extension (Planned)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6281928" y="2999232"/>
            <a:ext cx="2578608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N=3 adjacent slices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input channels [B, 3, H, W]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depth context without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convolution overhead</a:t>
            </a:r>
            <a:endParaRPr lang="en-US" sz="115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8A1E5B-F23E-0688-D85D-A49A35853C47}"/>
              </a:ext>
            </a:extLst>
          </p:cNvPr>
          <p:cNvSpPr txBox="1"/>
          <p:nvPr/>
        </p:nvSpPr>
        <p:spPr>
          <a:xfrm>
            <a:off x="8877586" y="4829819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4</a:t>
            </a:r>
            <a:endParaRPr lang="en-US" sz="1000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Training &amp; Validation Results</a:t>
            </a:r>
            <a:endParaRPr lang="en-US" sz="240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29260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777240"/>
            <a:ext cx="2926080" cy="329184"/>
          </a:xfrm>
          <a:prstGeom prst="rect">
            <a:avLst/>
          </a:prstGeom>
          <a:solidFill>
            <a:srgbClr val="A0243C"/>
          </a:solidFill>
          <a:ln w="12700">
            <a:solidFill>
              <a:srgbClr val="A024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7724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347472" y="1170432"/>
            <a:ext cx="2651760" cy="1417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5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Optimizer: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1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AdamW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1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lr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=1e-4)
</a:t>
            </a:r>
            <a:r>
              <a:rPr lang="en-US" sz="115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Scheduler: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1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CosineAnnealing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
</a:t>
            </a:r>
            <a:r>
              <a:rPr lang="en-US" sz="115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Batch Size: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 16  |  Workers: 2</a:t>
            </a:r>
            <a:endParaRPr lang="en-US" sz="1150" dirty="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115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Image Size: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224 x 224
</a:t>
            </a:r>
            <a:r>
              <a:rPr lang="en-US" sz="115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Epochs Run: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 100
</a:t>
            </a:r>
            <a:r>
              <a:rPr lang="en-US" sz="115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Loss:</a:t>
            </a:r>
            <a:r>
              <a:rPr lang="en-US" sz="11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 </a:t>
            </a:r>
            <a:r>
              <a:rPr lang="en-US" sz="11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BCEWithLogitsLoss</a:t>
            </a:r>
            <a:endParaRPr lang="en-US" sz="115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41177" y="777240"/>
            <a:ext cx="5742200" cy="1931091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44794" y="777240"/>
            <a:ext cx="5738583" cy="329184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777240"/>
            <a:ext cx="521208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b="1">
                <a:solidFill>
                  <a:srgbClr val="3D0C1F"/>
                </a:solidFill>
                <a:latin typeface="Calibri"/>
                <a:ea typeface="Calibri"/>
                <a:cs typeface="Calibri"/>
              </a:rPr>
              <a:t>Sample Output from Epoch 52 –&gt; </a:t>
            </a:r>
            <a:r>
              <a:rPr lang="en-US" sz="1200" b="1" dirty="0">
                <a:solidFill>
                  <a:srgbClr val="3D0C1F"/>
                </a:solidFill>
                <a:latin typeface="Calibri"/>
                <a:ea typeface="Calibri"/>
                <a:cs typeface="Calibri"/>
              </a:rPr>
              <a:t>Epoc</a:t>
            </a:r>
            <a:r>
              <a:rPr lang="en-US" sz="1200" b="1">
                <a:solidFill>
                  <a:srgbClr val="3D0C1F"/>
                </a:solidFill>
                <a:latin typeface="Calibri"/>
                <a:ea typeface="Calibri"/>
                <a:cs typeface="Calibri"/>
              </a:rPr>
              <a:t>h 53</a:t>
            </a:r>
            <a:endParaRPr 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069540"/>
              </p:ext>
            </p:extLst>
          </p:nvPr>
        </p:nvGraphicFramePr>
        <p:xfrm>
          <a:off x="3356658" y="1171936"/>
          <a:ext cx="5732331" cy="1575816"/>
        </p:xfrm>
        <a:graphic>
          <a:graphicData uri="http://schemas.openxmlformats.org/drawingml/2006/table">
            <a:tbl>
              <a:tblPr/>
              <a:tblGrid>
                <a:gridCol w="1307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7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07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E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Dice ↑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E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Hausdorff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↓</a:t>
                      </a:r>
                      <a:endParaRPr lang="en-US" sz="115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E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E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Stomach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</a:rPr>
                        <a:t>0.793 -&gt; </a:t>
                      </a: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0.808 </a:t>
                      </a:r>
                      <a:endParaRPr lang="en-US"/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performance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Bowel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</a:rPr>
                        <a:t>0.714 -&gt; </a:t>
                      </a: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0.710</a:t>
                      </a:r>
                      <a:endParaRPr lang="en-US"/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shape variability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Bowel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</a:rPr>
                        <a:t>0.685 -&gt; </a:t>
                      </a: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0.685 </a:t>
                      </a:r>
                      <a:endParaRPr lang="en-US"/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Major </a:t>
                      </a:r>
                      <a:r>
                        <a:rPr lang="en-US" sz="1150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BottleNeck</a:t>
                      </a:r>
                      <a:endParaRPr lang="en-US" dirty="0" err="1"/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</a:rPr>
                        <a:t>0.731 -&gt;  0.734</a:t>
                      </a:r>
                      <a:endParaRPr lang="en-US"/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</a:rPr>
                        <a:t>0.2026 </a:t>
                      </a:r>
                      <a:r>
                        <a:rPr lang="en-US" sz="11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-&gt; </a:t>
                      </a:r>
                      <a:r>
                        <a:rPr lang="en-US" sz="1150" b="0" i="0" u="none" strike="noStrike" noProof="0">
                          <a:solidFill>
                            <a:srgbClr val="000000"/>
                          </a:solidFill>
                        </a:rPr>
                        <a:t>0.2001</a:t>
                      </a:r>
                      <a:endParaRPr lang="en-US"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Comp Score: </a:t>
                      </a:r>
                      <a:r>
                        <a:rPr lang="en-US" sz="1150" b="0" i="0" u="none" strike="noStrike" noProof="0" dirty="0">
                          <a:solidFill>
                            <a:srgbClr val="000000"/>
                          </a:solidFill>
                        </a:rPr>
                        <a:t>0.7708 -&gt;</a:t>
                      </a:r>
                      <a:r>
                        <a:rPr lang="en-US" sz="115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0.7737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4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788B573-E901-D723-7427-1BABFBA71C45}"/>
              </a:ext>
            </a:extLst>
          </p:cNvPr>
          <p:cNvSpPr txBox="1"/>
          <p:nvPr/>
        </p:nvSpPr>
        <p:spPr>
          <a:xfrm>
            <a:off x="8877586" y="4898571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5</a:t>
            </a:r>
            <a:endParaRPr lang="en-US" sz="1000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C75E0-3F9C-686D-8148-78E02D45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EED313-B62B-B4C2-F38F-F1F2EB6497DA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6660074-50B6-DAAE-179B-ADDC8D619A7A}"/>
              </a:ext>
            </a:extLst>
          </p:cNvPr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 | Visualizing </a:t>
            </a:r>
            <a:r>
              <a:rPr lang="en-US" sz="24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Traininng</a:t>
            </a:r>
            <a:r>
              <a:rPr lang="en-US" sz="2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Issues</a:t>
            </a:r>
            <a:endParaRPr lang="en-US" sz="2400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354CE00-A93A-3CD1-01FF-FE9AA4118901}"/>
              </a:ext>
            </a:extLst>
          </p:cNvPr>
          <p:cNvSpPr/>
          <p:nvPr/>
        </p:nvSpPr>
        <p:spPr>
          <a:xfrm>
            <a:off x="376900" y="777240"/>
            <a:ext cx="3385451" cy="419611"/>
          </a:xfrm>
          <a:prstGeom prst="rect">
            <a:avLst/>
          </a:prstGeom>
          <a:solidFill>
            <a:srgbClr val="A0243C"/>
          </a:solidFill>
          <a:ln w="12700">
            <a:solidFill>
              <a:srgbClr val="A0243C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A3AC700-0DC3-526F-A0CE-41FB0DD55963}"/>
              </a:ext>
            </a:extLst>
          </p:cNvPr>
          <p:cNvSpPr/>
          <p:nvPr/>
        </p:nvSpPr>
        <p:spPr>
          <a:xfrm>
            <a:off x="320040" y="777240"/>
            <a:ext cx="3444915" cy="43046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FFFFFF"/>
                </a:solidFill>
                <a:ea typeface="Calibri"/>
                <a:cs typeface="Calibri"/>
              </a:rPr>
              <a:t>Getting Deep into Code</a:t>
            </a:r>
            <a:endParaRPr lang="en-US" sz="13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A395483-9460-3EE4-24AD-6978E77F8F04}"/>
              </a:ext>
            </a:extLst>
          </p:cNvPr>
          <p:cNvSpPr/>
          <p:nvPr/>
        </p:nvSpPr>
        <p:spPr>
          <a:xfrm>
            <a:off x="347472" y="1170432"/>
            <a:ext cx="3331772" cy="184775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endParaRPr lang="en-US" sz="115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F1FBAC4-C248-B8FB-7B3A-E047053843EB}"/>
              </a:ext>
            </a:extLst>
          </p:cNvPr>
          <p:cNvSpPr/>
          <p:nvPr/>
        </p:nvSpPr>
        <p:spPr>
          <a:xfrm>
            <a:off x="4715670" y="777240"/>
            <a:ext cx="4302600" cy="329184"/>
          </a:xfrm>
          <a:prstGeom prst="rect">
            <a:avLst/>
          </a:prstGeom>
          <a:solidFill>
            <a:srgbClr val="CEB888"/>
          </a:solidFill>
          <a:ln w="12700">
            <a:solidFill>
              <a:srgbClr val="CEB888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B23203D-8DF8-108B-494F-AA6D5B1C3827}"/>
              </a:ext>
            </a:extLst>
          </p:cNvPr>
          <p:cNvSpPr/>
          <p:nvPr/>
        </p:nvSpPr>
        <p:spPr>
          <a:xfrm>
            <a:off x="4698597" y="777240"/>
            <a:ext cx="4304193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 b="1">
                <a:solidFill>
                  <a:srgbClr val="3D0C1F"/>
                </a:solidFill>
                <a:latin typeface="Calibri"/>
                <a:ea typeface="Calibri"/>
                <a:cs typeface="Calibri"/>
              </a:rPr>
              <a:t>50 Epoch training snippet of Dice</a:t>
            </a:r>
            <a:endParaRPr lang="en-US" sz="1200" b="1">
              <a:solidFill>
                <a:srgbClr val="3D0C1F"/>
              </a:solidFill>
              <a:ea typeface="Calibri"/>
              <a:cs typeface="Calibri"/>
            </a:endParaRPr>
          </a:p>
        </p:txBody>
      </p:sp>
      <p:pic>
        <p:nvPicPr>
          <p:cNvPr id="12" name="Picture 11" descr="A graph with green and purple lines&#10;&#10;AI-generated content may be incorrect.">
            <a:extLst>
              <a:ext uri="{FF2B5EF4-FFF2-40B4-BE49-F238E27FC236}">
                <a16:creationId xmlns:a16="http://schemas.microsoft.com/office/drawing/2014/main" id="{ABE274C0-9201-9E34-230D-BDAEF5974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066" y="1169570"/>
            <a:ext cx="4304336" cy="2073708"/>
          </a:xfrm>
          <a:prstGeom prst="rect">
            <a:avLst/>
          </a:prstGeom>
        </p:spPr>
      </p:pic>
      <p:pic>
        <p:nvPicPr>
          <p:cNvPr id="13" name="Picture 12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D4C0BCE0-8A8D-26C9-063E-B0892C2D8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854" y="1208107"/>
            <a:ext cx="3395861" cy="2940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713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 |  Preliminary Interpretation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425196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822960"/>
            <a:ext cx="4251960" cy="3657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822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Working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393192" y="1261872"/>
            <a:ext cx="3977640" cy="3429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Hausdorff</a:t>
            </a:r>
            <a:r>
              <a:rPr lang="en-US" sz="12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 mean is doing well, decreasing at a rate of around .003 per Epoch </a:t>
            </a:r>
          </a:p>
          <a:p>
            <a:pPr marL="342900" indent="-342900"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A1A1A"/>
                </a:solidFill>
                <a:ea typeface="+mn-lt"/>
                <a:cs typeface="+mn-lt"/>
              </a:rPr>
              <a:t>Stomach — consistently 0.79-0.81 Dice, easiest anatomy for the model to find. Well-defined shape, large surface area, appears frequently in slices.</a:t>
            </a:r>
            <a:endParaRPr lang="en-US" sz="125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Loss curves converge smoothly; no training instability detected, so architecture isn't a problem.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Global normalization (</a:t>
            </a:r>
            <a:r>
              <a:rPr lang="en-US" sz="12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calcStats.json</a:t>
            </a:r>
            <a:r>
              <a:rPr lang="en-US" sz="12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) consistent across train/</a:t>
            </a:r>
            <a:r>
              <a:rPr lang="en-US" sz="12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val</a:t>
            </a:r>
            <a:r>
              <a:rPr lang="en-US" sz="12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split</a:t>
            </a:r>
            <a:endParaRPr lang="en-US" sz="1250" dirty="0"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DataLoader</a:t>
            </a:r>
            <a:r>
              <a:rPr lang="en-US" sz="12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pipeline verified — images and masks align correctly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Composite Score – Since HD Mean takes up 60% this is still relatively high</a:t>
            </a:r>
          </a:p>
          <a:p>
            <a:pPr marL="342900" indent="-342900"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ea typeface="+mn-lt"/>
                <a:cs typeface="+mn-lt"/>
              </a:rPr>
              <a:t>Implements 50/50 BCE + Dice loss for Combined Loss</a:t>
            </a:r>
            <a:endParaRPr lang="en-US" sz="125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25196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822960"/>
            <a:ext cx="4251960" cy="365760"/>
          </a:xfrm>
          <a:prstGeom prst="rect">
            <a:avLst/>
          </a:prstGeom>
          <a:solidFill>
            <a:srgbClr val="9B2226"/>
          </a:solidFill>
          <a:ln w="12700">
            <a:solidFill>
              <a:srgbClr val="9B2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18888" y="822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Struggling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4873752" y="1261872"/>
            <a:ext cx="3977640" cy="3429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Small bowel: High shape variability leads to lower shape recognition than stomach</a:t>
            </a:r>
            <a:endParaRPr lang="en-US" sz="1250">
              <a:solidFill>
                <a:srgbClr val="1A1A1A"/>
              </a:solidFill>
              <a:ea typeface="Calibri"/>
              <a:cs typeface="Calibri"/>
            </a:endParaRPr>
          </a:p>
          <a:p>
            <a:pPr marL="342900" indent="-342900"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A1A1A"/>
                </a:solidFill>
                <a:ea typeface="Calibri"/>
                <a:cs typeface="Calibri"/>
              </a:rPr>
              <a:t>Large Bowel improvements stop possibly due to lack of annotation in the dataset</a:t>
            </a:r>
          </a:p>
          <a:p>
            <a:pPr marL="342900" indent="-342900"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250">
                <a:solidFill>
                  <a:srgbClr val="1A1A1A"/>
                </a:solidFill>
                <a:latin typeface="Calibri" panose="020F0502020204030204"/>
                <a:ea typeface="Calibri"/>
                <a:cs typeface="Calibri"/>
              </a:rPr>
              <a:t>Low worker amounts of 2 potentially means unoptimized parallelization when training</a:t>
            </a:r>
          </a:p>
          <a:p>
            <a:pPr marL="342900" indent="-342900"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250" dirty="0">
                <a:solidFill>
                  <a:srgbClr val="1A1A1A"/>
                </a:solidFill>
                <a:ea typeface="+mn-lt"/>
                <a:cs typeface="+mn-lt"/>
              </a:rPr>
              <a:t>The loss function — </a:t>
            </a:r>
            <a:r>
              <a:rPr lang="en-US" sz="1250" dirty="0" err="1">
                <a:solidFill>
                  <a:srgbClr val="1A1A1A"/>
                </a:solidFill>
                <a:ea typeface="+mn-lt"/>
                <a:cs typeface="+mn-lt"/>
              </a:rPr>
              <a:t>DiceLoss</a:t>
            </a:r>
            <a:r>
              <a:rPr lang="en-US" sz="1250" dirty="0">
                <a:solidFill>
                  <a:srgbClr val="1A1A1A"/>
                </a:solidFill>
                <a:ea typeface="+mn-lt"/>
                <a:cs typeface="+mn-lt"/>
              </a:rPr>
              <a:t> was flattening across all classes before averaging, meaning large bowel was never getting targeted pressure.</a:t>
            </a:r>
            <a:endParaRPr lang="en-US" sz="1250" dirty="0">
              <a:solidFill>
                <a:srgbClr val="1A1A1A"/>
              </a:solidFill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F6896-FEF3-F0FB-75DA-A60B334E9D51}"/>
              </a:ext>
            </a:extLst>
          </p:cNvPr>
          <p:cNvSpPr txBox="1"/>
          <p:nvPr/>
        </p:nvSpPr>
        <p:spPr>
          <a:xfrm>
            <a:off x="8877586" y="4898571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7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 |  Planned Improvements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713790" y="815726"/>
            <a:ext cx="425196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13790" y="815726"/>
            <a:ext cx="329184" cy="1965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9510" y="861446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0366" y="852302"/>
            <a:ext cx="256032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65A82"/>
                </a:solidFill>
                <a:latin typeface="Calibri"/>
                <a:ea typeface="Calibri"/>
                <a:cs typeface="Calibri"/>
              </a:rPr>
              <a:t>B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5170990" y="88887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5170990" y="1272926"/>
            <a:ext cx="3703320" cy="1417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CLAHE to normalize MRI scanner intensity drift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Increase target resolution from a downscaled 224 to a to-scale 320 and potential upscale comparison of 448</a:t>
            </a:r>
          </a:p>
        </p:txBody>
      </p:sp>
      <p:sp>
        <p:nvSpPr>
          <p:cNvPr id="16" name="Shape 14"/>
          <p:cNvSpPr/>
          <p:nvPr/>
        </p:nvSpPr>
        <p:spPr>
          <a:xfrm>
            <a:off x="221366" y="812398"/>
            <a:ext cx="425196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1366" y="812398"/>
            <a:ext cx="329184" cy="19659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7086" y="858118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7942" y="848974"/>
            <a:ext cx="256032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D6A4F"/>
                </a:solidFill>
                <a:ea typeface="Calibri"/>
                <a:cs typeface="Calibri"/>
              </a:rPr>
              <a:t>S</a:t>
            </a:r>
            <a:endParaRPr lang="en-US" sz="1100" b="1" dirty="0">
              <a:solidFill>
                <a:srgbClr val="2D6A4F"/>
              </a:solidFill>
              <a:ea typeface="Calibri"/>
              <a:cs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8566" y="88555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Strategy</a:t>
            </a:r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678566" y="1269598"/>
            <a:ext cx="3703320" cy="1417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spcAft>
                <a:spcPts val="400"/>
              </a:spcAft>
              <a:buSzPct val="100000"/>
            </a:pPr>
            <a:endParaRPr lang="en-US" sz="1200" dirty="0">
              <a:solidFill>
                <a:srgbClr val="5A5A5A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r>
              <a:rPr lang="en-US" sz="1200">
                <a:solidFill>
                  <a:srgbClr val="5A5A5A"/>
                </a:solidFill>
                <a:ea typeface="+mn-lt"/>
                <a:cs typeface="+mn-lt"/>
              </a:rPr>
              <a:t>Compute per-class loss before averaging for per class weighting based on frequency in slices</a:t>
            </a:r>
          </a:p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r>
              <a:rPr lang="en-US" sz="1200">
                <a:solidFill>
                  <a:srgbClr val="5A5A5A"/>
                </a:solidFill>
                <a:ea typeface="+mn-lt"/>
                <a:cs typeface="+mn-lt"/>
              </a:rPr>
              <a:t>Run a 5 slice 2.5D for depth comparisons</a:t>
            </a:r>
            <a:endParaRPr lang="en-US" sz="1200" dirty="0">
              <a:solidFill>
                <a:srgbClr val="5A5A5A"/>
              </a:solidFill>
              <a:ea typeface="+mn-lt"/>
              <a:cs typeface="+mn-lt"/>
            </a:endParaRPr>
          </a:p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r>
              <a:rPr lang="en-US" sz="1200" dirty="0">
                <a:solidFill>
                  <a:srgbClr val="5A5A5A"/>
                </a:solidFill>
                <a:ea typeface="+mn-lt"/>
                <a:cs typeface="+mn-lt"/>
              </a:rPr>
              <a:t>Increase number of workers from 2 – 4+ for </a:t>
            </a:r>
            <a:r>
              <a:rPr lang="en-US" sz="1200" dirty="0" err="1">
                <a:solidFill>
                  <a:srgbClr val="5A5A5A"/>
                </a:solidFill>
                <a:ea typeface="+mn-lt"/>
                <a:cs typeface="+mn-lt"/>
              </a:rPr>
              <a:t>gpu</a:t>
            </a:r>
            <a:r>
              <a:rPr lang="en-US" sz="1200" dirty="0">
                <a:solidFill>
                  <a:srgbClr val="5A5A5A"/>
                </a:solidFill>
                <a:ea typeface="+mn-lt"/>
                <a:cs typeface="+mn-lt"/>
              </a:rPr>
              <a:t> optimization</a:t>
            </a:r>
          </a:p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endParaRPr lang="en-US" sz="1200" dirty="0">
              <a:solidFill>
                <a:srgbClr val="5A5A5A"/>
              </a:solidFill>
              <a:ea typeface="+mn-lt"/>
              <a:cs typeface="+mn-lt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23970" y="2964566"/>
            <a:ext cx="425196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3970" y="2964566"/>
            <a:ext cx="329184" cy="196596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690" y="3010286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546" y="3001142"/>
            <a:ext cx="256032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7B2D8B"/>
                </a:solidFill>
                <a:latin typeface="Calibri"/>
                <a:ea typeface="Calibri"/>
                <a:cs typeface="Calibri"/>
              </a:rPr>
              <a:t>C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681170" y="303771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</a:t>
            </a:r>
            <a:endParaRPr lang="en-US" sz="1350"/>
          </a:p>
        </p:txBody>
      </p:sp>
      <p:sp>
        <p:nvSpPr>
          <p:cNvPr id="27" name="Text 25"/>
          <p:cNvSpPr/>
          <p:nvPr/>
        </p:nvSpPr>
        <p:spPr>
          <a:xfrm>
            <a:off x="681170" y="3421766"/>
            <a:ext cx="3703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Transform + Grid Distortion to simulate organ deformation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ROI cropping focused on non-zero mask regions</a:t>
            </a:r>
            <a:endParaRPr lang="en-US" sz="1200"/>
          </a:p>
        </p:txBody>
      </p:sp>
      <p:sp>
        <p:nvSpPr>
          <p:cNvPr id="28" name="Shape 20">
            <a:extLst>
              <a:ext uri="{FF2B5EF4-FFF2-40B4-BE49-F238E27FC236}">
                <a16:creationId xmlns:a16="http://schemas.microsoft.com/office/drawing/2014/main" id="{E3CFEF1B-A894-AC60-F0C6-CF82AAFD2AD1}"/>
              </a:ext>
            </a:extLst>
          </p:cNvPr>
          <p:cNvSpPr/>
          <p:nvPr/>
        </p:nvSpPr>
        <p:spPr>
          <a:xfrm>
            <a:off x="4720011" y="2950097"/>
            <a:ext cx="425196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D4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7997B4FD-E860-A054-C2F8-286E852551F7}"/>
              </a:ext>
            </a:extLst>
          </p:cNvPr>
          <p:cNvSpPr/>
          <p:nvPr/>
        </p:nvSpPr>
        <p:spPr>
          <a:xfrm>
            <a:off x="4720011" y="2950097"/>
            <a:ext cx="329184" cy="1965960"/>
          </a:xfrm>
          <a:prstGeom prst="rect">
            <a:avLst/>
          </a:prstGeom>
          <a:solidFill>
            <a:srgbClr val="ED7D31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30" name="Shape 22">
            <a:extLst>
              <a:ext uri="{FF2B5EF4-FFF2-40B4-BE49-F238E27FC236}">
                <a16:creationId xmlns:a16="http://schemas.microsoft.com/office/drawing/2014/main" id="{C16EF2AA-D84B-E2A9-08A4-EE8C901A98F8}"/>
              </a:ext>
            </a:extLst>
          </p:cNvPr>
          <p:cNvSpPr/>
          <p:nvPr/>
        </p:nvSpPr>
        <p:spPr>
          <a:xfrm>
            <a:off x="4765731" y="2995817"/>
            <a:ext cx="237744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28AF53A0-3842-7175-E197-6FB8A8C451E2}"/>
              </a:ext>
            </a:extLst>
          </p:cNvPr>
          <p:cNvSpPr/>
          <p:nvPr/>
        </p:nvSpPr>
        <p:spPr>
          <a:xfrm>
            <a:off x="4756587" y="2986673"/>
            <a:ext cx="256032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7B2D8B"/>
                </a:solidFill>
                <a:latin typeface="Calibri"/>
                <a:ea typeface="Calibri"/>
                <a:cs typeface="Calibri"/>
              </a:rPr>
              <a:t>C</a:t>
            </a:r>
            <a:endParaRPr lang="en-US" sz="1100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94AE2813-0F11-B245-A46C-222EDFA74464}"/>
              </a:ext>
            </a:extLst>
          </p:cNvPr>
          <p:cNvSpPr/>
          <p:nvPr/>
        </p:nvSpPr>
        <p:spPr>
          <a:xfrm>
            <a:off x="5177211" y="3023249"/>
            <a:ext cx="3703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5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Quality of Life</a:t>
            </a:r>
            <a:endParaRPr lang="en-US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FA680C14-AD98-4630-C966-201639549823}"/>
              </a:ext>
            </a:extLst>
          </p:cNvPr>
          <p:cNvSpPr/>
          <p:nvPr/>
        </p:nvSpPr>
        <p:spPr>
          <a:xfrm>
            <a:off x="5177211" y="3407297"/>
            <a:ext cx="3703320" cy="1417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r>
              <a:rPr lang="en-US" sz="1200" dirty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Automation of Setup process for reproducibility and </a:t>
            </a:r>
            <a:r>
              <a:rPr lang="en-US" sz="120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parallelization</a:t>
            </a:r>
            <a:endParaRPr lang="en-US" sz="1200" dirty="0">
              <a:ea typeface="Calibri"/>
              <a:cs typeface="Calibri"/>
            </a:endParaRPr>
          </a:p>
          <a:p>
            <a:pPr marL="342900" indent="-342900">
              <a:spcAft>
                <a:spcPts val="400"/>
              </a:spcAft>
              <a:buSzPct val="100000"/>
              <a:buFont typeface="Arial"/>
              <a:buChar char="•"/>
            </a:pPr>
            <a:r>
              <a:rPr lang="en-US" sz="1200" dirty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Set up </a:t>
            </a:r>
            <a:r>
              <a:rPr lang="en-US" sz="1200" dirty="0" err="1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Tensorboard</a:t>
            </a:r>
            <a:r>
              <a:rPr lang="en-US" sz="1200" dirty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 for visualizations during and post training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Checkpointing and </a:t>
            </a:r>
            <a:r>
              <a:rPr lang="en-US" sz="1200" dirty="0" err="1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tmux</a:t>
            </a:r>
            <a:r>
              <a:rPr lang="en-US" sz="1200" dirty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 for crashing &amp; internet connectivity measures</a:t>
            </a:r>
            <a:endParaRPr lang="en-US" sz="1200" dirty="0">
              <a:solidFill>
                <a:srgbClr val="5A5A5A"/>
              </a:solidFill>
              <a:ea typeface="Calibri"/>
              <a:cs typeface="Calibri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2B9ED6-7AB0-4865-222B-1458E0BD8D6B}"/>
              </a:ext>
            </a:extLst>
          </p:cNvPr>
          <p:cNvSpPr txBox="1"/>
          <p:nvPr/>
        </p:nvSpPr>
        <p:spPr>
          <a:xfrm>
            <a:off x="8877586" y="4898571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977BED-A495-8E32-9EE8-3D193797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66AE0F-CF02-2BAD-F605-0A6011DDE54B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E3C"/>
          </a:solidFill>
          <a:ln w="12700">
            <a:solidFill>
              <a:srgbClr val="6B1E3C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914D0C3-4D82-565B-4E09-AD45D41383D3}"/>
              </a:ext>
            </a:extLst>
          </p:cNvPr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 |Questions</a:t>
            </a:r>
            <a:endParaRPr lang="en-US" sz="2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5C290-E2D5-0111-2905-DACED383D925}"/>
              </a:ext>
            </a:extLst>
          </p:cNvPr>
          <p:cNvSpPr txBox="1"/>
          <p:nvPr/>
        </p:nvSpPr>
        <p:spPr>
          <a:xfrm>
            <a:off x="8877586" y="4898571"/>
            <a:ext cx="16328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00">
                <a:ea typeface="Calibri"/>
                <a:cs typeface="Calibri"/>
              </a:rPr>
              <a:t>9</a:t>
            </a:r>
            <a:endParaRPr lang="en-US" sz="10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47555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9</Slides>
  <Notes>9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Tract Segmentation – Presentation 3</dc:title>
  <dc:subject>PptxGenJS Presentation</dc:subject>
  <dc:creator>PptxGenJS</dc:creator>
  <cp:revision>442</cp:revision>
  <dcterms:created xsi:type="dcterms:W3CDTF">2026-03-27T19:48:02Z</dcterms:created>
  <dcterms:modified xsi:type="dcterms:W3CDTF">2026-04-08T14:07:53Z</dcterms:modified>
</cp:coreProperties>
</file>