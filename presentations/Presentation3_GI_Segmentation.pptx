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-1"/>
            <a:ext cx="9144000" cy="73154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0" y="5070347"/>
            <a:ext cx="9144000" cy="73153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Shape 2"/>
          <p:cNvSpPr/>
          <p:nvPr/>
        </p:nvSpPr>
        <p:spPr>
          <a:xfrm>
            <a:off x="502919" y="1005839"/>
            <a:ext cx="73153" cy="3108961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" name="Text 3"/>
          <p:cNvSpPr txBox="1"/>
          <p:nvPr/>
        </p:nvSpPr>
        <p:spPr>
          <a:xfrm>
            <a:off x="777239" y="1005839"/>
            <a:ext cx="7680961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UW-Madison GI Tract Image Segmentation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777239" y="1947874"/>
            <a:ext cx="76809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700">
                <a:solidFill>
                  <a:srgbClr val="CEB888"/>
                </a:solidFill>
              </a:defRPr>
            </a:lvl1pPr>
          </a:lstStyle>
          <a:p>
            <a:pPr/>
            <a:r>
              <a:t>Presentation 3 — Model Architecture &amp; Training Results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777239" y="2557080"/>
            <a:ext cx="7680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D4B896"/>
                </a:solidFill>
              </a:defRPr>
            </a:lvl1pPr>
          </a:lstStyle>
          <a:p>
            <a:pPr/>
            <a:r>
              <a:t>William Ohonba   ·   Sofia Rojas   ·   Peyton Wade</a:t>
            </a:r>
          </a:p>
        </p:txBody>
      </p:sp>
      <p:sp>
        <p:nvSpPr>
          <p:cNvPr id="26" name="Text 6"/>
          <p:cNvSpPr txBox="1"/>
          <p:nvPr/>
        </p:nvSpPr>
        <p:spPr>
          <a:xfrm>
            <a:off x="777239" y="2956998"/>
            <a:ext cx="76809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AA9080"/>
                </a:solidFill>
              </a:defRPr>
            </a:lvl1pPr>
          </a:lstStyle>
          <a:p>
            <a:pPr/>
            <a:r>
              <a:t>Florida State University   |   Spring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1"/>
          <p:cNvSpPr txBox="1"/>
          <p:nvPr/>
        </p:nvSpPr>
        <p:spPr>
          <a:xfrm>
            <a:off x="411479" y="110352"/>
            <a:ext cx="8138161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FFFFFF"/>
                </a:solidFill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30" name="Shape 2"/>
          <p:cNvSpPr/>
          <p:nvPr/>
        </p:nvSpPr>
        <p:spPr>
          <a:xfrm>
            <a:off x="320040" y="86868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3"/>
          <p:cNvSpPr txBox="1"/>
          <p:nvPr/>
        </p:nvSpPr>
        <p:spPr>
          <a:xfrm>
            <a:off x="365760" y="966024"/>
            <a:ext cx="38404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2" name="Shape 4"/>
          <p:cNvSpPr/>
          <p:nvPr/>
        </p:nvSpPr>
        <p:spPr>
          <a:xfrm>
            <a:off x="886967" y="86868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3" name="Text 5"/>
          <p:cNvSpPr txBox="1"/>
          <p:nvPr/>
        </p:nvSpPr>
        <p:spPr>
          <a:xfrm>
            <a:off x="1024127" y="966024"/>
            <a:ext cx="33832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A1A1A"/>
                </a:solidFill>
              </a:defRPr>
            </a:lvl1pPr>
          </a:lstStyle>
          <a:p>
            <a:pPr/>
            <a:r>
              <a:t>Project Recap &amp; Update</a:t>
            </a:r>
          </a:p>
        </p:txBody>
      </p:sp>
      <p:sp>
        <p:nvSpPr>
          <p:cNvPr id="34" name="Shape 6"/>
          <p:cNvSpPr/>
          <p:nvPr/>
        </p:nvSpPr>
        <p:spPr>
          <a:xfrm>
            <a:off x="320040" y="219456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" name="Text 7"/>
          <p:cNvSpPr txBox="1"/>
          <p:nvPr/>
        </p:nvSpPr>
        <p:spPr>
          <a:xfrm>
            <a:off x="365760" y="2291904"/>
            <a:ext cx="38404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36" name="Shape 8"/>
          <p:cNvSpPr/>
          <p:nvPr/>
        </p:nvSpPr>
        <p:spPr>
          <a:xfrm>
            <a:off x="886967" y="219456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7" name="Text 9"/>
          <p:cNvSpPr txBox="1"/>
          <p:nvPr/>
        </p:nvSpPr>
        <p:spPr>
          <a:xfrm>
            <a:off x="1024127" y="2291904"/>
            <a:ext cx="33832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A1A1A"/>
                </a:solidFill>
              </a:defRPr>
            </a:lvl1pPr>
          </a:lstStyle>
          <a:p>
            <a:pPr/>
            <a:r>
              <a:t>Model Architecture (U-Net)</a:t>
            </a:r>
          </a:p>
        </p:txBody>
      </p:sp>
      <p:sp>
        <p:nvSpPr>
          <p:cNvPr id="38" name="Shape 10"/>
          <p:cNvSpPr/>
          <p:nvPr/>
        </p:nvSpPr>
        <p:spPr>
          <a:xfrm>
            <a:off x="320040" y="352044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Text 11"/>
          <p:cNvSpPr txBox="1"/>
          <p:nvPr/>
        </p:nvSpPr>
        <p:spPr>
          <a:xfrm>
            <a:off x="365760" y="3617784"/>
            <a:ext cx="38404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0" name="Shape 12"/>
          <p:cNvSpPr/>
          <p:nvPr/>
        </p:nvSpPr>
        <p:spPr>
          <a:xfrm>
            <a:off x="886967" y="352044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1" name="Text 13"/>
          <p:cNvSpPr txBox="1"/>
          <p:nvPr/>
        </p:nvSpPr>
        <p:spPr>
          <a:xfrm>
            <a:off x="1024127" y="3617784"/>
            <a:ext cx="33832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A1A1A"/>
                </a:solidFill>
              </a:defRPr>
            </a:lvl1pPr>
          </a:lstStyle>
          <a:p>
            <a:pPr/>
            <a:r>
              <a:t>Training &amp; Validation Results</a:t>
            </a:r>
          </a:p>
        </p:txBody>
      </p:sp>
      <p:sp>
        <p:nvSpPr>
          <p:cNvPr id="42" name="Shape 14"/>
          <p:cNvSpPr/>
          <p:nvPr/>
        </p:nvSpPr>
        <p:spPr>
          <a:xfrm>
            <a:off x="4663440" y="86868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" name="Text 15"/>
          <p:cNvSpPr txBox="1"/>
          <p:nvPr/>
        </p:nvSpPr>
        <p:spPr>
          <a:xfrm>
            <a:off x="4709160" y="966024"/>
            <a:ext cx="38404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44" name="Shape 16"/>
          <p:cNvSpPr/>
          <p:nvPr/>
        </p:nvSpPr>
        <p:spPr>
          <a:xfrm>
            <a:off x="5230367" y="86868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5" name="Text 17"/>
          <p:cNvSpPr txBox="1"/>
          <p:nvPr/>
        </p:nvSpPr>
        <p:spPr>
          <a:xfrm>
            <a:off x="5367528" y="966024"/>
            <a:ext cx="33832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A1A1A"/>
                </a:solidFill>
              </a:defRPr>
            </a:lvl1pPr>
          </a:lstStyle>
          <a:p>
            <a:pPr/>
            <a:r>
              <a:t>Preliminary Interpretation</a:t>
            </a:r>
          </a:p>
        </p:txBody>
      </p:sp>
      <p:sp>
        <p:nvSpPr>
          <p:cNvPr id="46" name="Shape 18"/>
          <p:cNvSpPr/>
          <p:nvPr/>
        </p:nvSpPr>
        <p:spPr>
          <a:xfrm>
            <a:off x="4663440" y="219456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" name="Text 19"/>
          <p:cNvSpPr txBox="1"/>
          <p:nvPr/>
        </p:nvSpPr>
        <p:spPr>
          <a:xfrm>
            <a:off x="4709160" y="2291904"/>
            <a:ext cx="38404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48" name="Shape 20"/>
          <p:cNvSpPr/>
          <p:nvPr/>
        </p:nvSpPr>
        <p:spPr>
          <a:xfrm>
            <a:off x="5230367" y="219456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9" name="Text 21"/>
          <p:cNvSpPr txBox="1"/>
          <p:nvPr/>
        </p:nvSpPr>
        <p:spPr>
          <a:xfrm>
            <a:off x="5367528" y="2291904"/>
            <a:ext cx="33832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A1A1A"/>
                </a:solidFill>
              </a:defRPr>
            </a:lvl1pPr>
          </a:lstStyle>
          <a:p>
            <a:pPr/>
            <a:r>
              <a:t>Planned Improvements</a:t>
            </a:r>
          </a:p>
        </p:txBody>
      </p:sp>
      <p:sp>
        <p:nvSpPr>
          <p:cNvPr id="50" name="Shape 22"/>
          <p:cNvSpPr/>
          <p:nvPr/>
        </p:nvSpPr>
        <p:spPr>
          <a:xfrm>
            <a:off x="4663440" y="352044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Text 23"/>
          <p:cNvSpPr txBox="1"/>
          <p:nvPr/>
        </p:nvSpPr>
        <p:spPr>
          <a:xfrm>
            <a:off x="4709160" y="3617784"/>
            <a:ext cx="38404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52" name="Shape 24"/>
          <p:cNvSpPr/>
          <p:nvPr/>
        </p:nvSpPr>
        <p:spPr>
          <a:xfrm>
            <a:off x="5230367" y="352044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3" name="Text 25"/>
          <p:cNvSpPr txBox="1"/>
          <p:nvPr/>
        </p:nvSpPr>
        <p:spPr>
          <a:xfrm>
            <a:off x="5367528" y="3617784"/>
            <a:ext cx="33832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A1A1A"/>
                </a:solidFill>
              </a:defRPr>
            </a:lvl1pPr>
          </a:lstStyle>
          <a:p>
            <a:pPr/>
            <a:r>
              <a:t>Final Remarks &amp; Next Steps</a:t>
            </a:r>
          </a:p>
        </p:txBody>
      </p:sp>
      <p:sp>
        <p:nvSpPr>
          <p:cNvPr id="54" name="TextBox 28"/>
          <p:cNvSpPr txBox="1"/>
          <p:nvPr/>
        </p:nvSpPr>
        <p:spPr>
          <a:xfrm>
            <a:off x="8782080" y="4898571"/>
            <a:ext cx="213072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" name="Text 1"/>
          <p:cNvSpPr txBox="1"/>
          <p:nvPr/>
        </p:nvSpPr>
        <p:spPr>
          <a:xfrm>
            <a:off x="411479" y="132949"/>
            <a:ext cx="8138161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01  |  Project Recap &amp; Update</a:t>
            </a:r>
          </a:p>
        </p:txBody>
      </p:sp>
      <p:sp>
        <p:nvSpPr>
          <p:cNvPr id="58" name="Shape 2"/>
          <p:cNvSpPr/>
          <p:nvPr/>
        </p:nvSpPr>
        <p:spPr>
          <a:xfrm>
            <a:off x="320039" y="822960"/>
            <a:ext cx="4023361" cy="192024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9" name="Shape 3"/>
          <p:cNvSpPr/>
          <p:nvPr/>
        </p:nvSpPr>
        <p:spPr>
          <a:xfrm>
            <a:off x="320039" y="822960"/>
            <a:ext cx="4023361" cy="365761"/>
          </a:xfrm>
          <a:prstGeom prst="rect">
            <a:avLst/>
          </a:prstGeom>
          <a:solidFill>
            <a:srgbClr val="A0243C"/>
          </a:solidFill>
          <a:ln w="12700">
            <a:solidFill>
              <a:srgbClr val="A024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Text 4"/>
          <p:cNvSpPr txBox="1"/>
          <p:nvPr/>
        </p:nvSpPr>
        <p:spPr>
          <a:xfrm>
            <a:off x="457200" y="876739"/>
            <a:ext cx="37490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Last Presentation</a:t>
            </a:r>
          </a:p>
        </p:txBody>
      </p:sp>
      <p:sp>
        <p:nvSpPr>
          <p:cNvPr id="61" name="Text 5"/>
          <p:cNvSpPr txBox="1"/>
          <p:nvPr/>
        </p:nvSpPr>
        <p:spPr>
          <a:xfrm>
            <a:off x="502919" y="1347269"/>
            <a:ext cx="3657602" cy="1200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Outlined the dataset anatomy with its attributes and specifications</a:t>
            </a:r>
          </a:p>
          <a:p>
            <a:pPr marL="285750" indent="-285750"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Established the necessary loss function (DICE and HAUSDORFF)</a:t>
            </a:r>
          </a:p>
          <a:p>
            <a:pPr marL="285750" indent="-285750"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Went through Dataloader Preprocessing and Verification Process</a:t>
            </a:r>
          </a:p>
        </p:txBody>
      </p:sp>
      <p:sp>
        <p:nvSpPr>
          <p:cNvPr id="62" name="Shape 6"/>
          <p:cNvSpPr/>
          <p:nvPr/>
        </p:nvSpPr>
        <p:spPr>
          <a:xfrm>
            <a:off x="4800599" y="822960"/>
            <a:ext cx="4023361" cy="192024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3" name="Shape 7"/>
          <p:cNvSpPr/>
          <p:nvPr/>
        </p:nvSpPr>
        <p:spPr>
          <a:xfrm>
            <a:off x="4800599" y="822960"/>
            <a:ext cx="4023361" cy="365761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" name="Text 8"/>
          <p:cNvSpPr txBox="1"/>
          <p:nvPr/>
        </p:nvSpPr>
        <p:spPr>
          <a:xfrm>
            <a:off x="4937760" y="876739"/>
            <a:ext cx="374904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3D0C1F"/>
                </a:solidFill>
              </a:defRPr>
            </a:lvl1pPr>
          </a:lstStyle>
          <a:p>
            <a:pPr/>
            <a:r>
              <a:t>This Presentation</a:t>
            </a:r>
          </a:p>
        </p:txBody>
      </p:sp>
      <p:sp>
        <p:nvSpPr>
          <p:cNvPr id="65" name="Text 9"/>
          <p:cNvSpPr txBox="1"/>
          <p:nvPr/>
        </p:nvSpPr>
        <p:spPr>
          <a:xfrm>
            <a:off x="4983479" y="1252019"/>
            <a:ext cx="3566161" cy="1391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Established the 2D U-Net Baseline for initial segmentation</a:t>
            </a:r>
          </a:p>
          <a:p>
            <a:pPr marL="285750" indent="-285750"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Used a 2.5D Stack with 3 Slices as input channel for pseudo-3D spacial context</a:t>
            </a:r>
          </a:p>
          <a:p>
            <a:pPr marL="285750" indent="-285750"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Implemented calcStats.json to standardize validation</a:t>
            </a:r>
          </a:p>
        </p:txBody>
      </p:sp>
      <p:sp>
        <p:nvSpPr>
          <p:cNvPr id="66" name="Shape 10"/>
          <p:cNvSpPr/>
          <p:nvPr/>
        </p:nvSpPr>
        <p:spPr>
          <a:xfrm>
            <a:off x="320039" y="2944367"/>
            <a:ext cx="1965962" cy="960121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7" name="Text 11"/>
          <p:cNvSpPr txBox="1"/>
          <p:nvPr/>
        </p:nvSpPr>
        <p:spPr>
          <a:xfrm>
            <a:off x="365759" y="3061911"/>
            <a:ext cx="1874522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algn="ctr">
              <a:defRPr b="1" sz="2200">
                <a:solidFill>
                  <a:srgbClr val="CEB888"/>
                </a:solidFill>
              </a:defRPr>
            </a:lvl1pPr>
          </a:lstStyle>
          <a:p>
            <a:pPr/>
            <a:r>
              <a:t>38,496</a:t>
            </a:r>
          </a:p>
        </p:txBody>
      </p:sp>
      <p:sp>
        <p:nvSpPr>
          <p:cNvPr id="68" name="Text 12"/>
          <p:cNvSpPr txBox="1"/>
          <p:nvPr/>
        </p:nvSpPr>
        <p:spPr>
          <a:xfrm>
            <a:off x="365759" y="3508170"/>
            <a:ext cx="187452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>
                <a:solidFill>
                  <a:srgbClr val="D4B896"/>
                </a:solidFill>
              </a:defRPr>
            </a:lvl1pPr>
          </a:lstStyle>
          <a:p>
            <a:pPr/>
            <a:r>
              <a:t>MRI Slices</a:t>
            </a:r>
          </a:p>
        </p:txBody>
      </p:sp>
      <p:sp>
        <p:nvSpPr>
          <p:cNvPr id="69" name="Shape 13"/>
          <p:cNvSpPr/>
          <p:nvPr/>
        </p:nvSpPr>
        <p:spPr>
          <a:xfrm>
            <a:off x="2468879" y="2944367"/>
            <a:ext cx="1965961" cy="960121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0" name="Text 14"/>
          <p:cNvSpPr txBox="1"/>
          <p:nvPr/>
        </p:nvSpPr>
        <p:spPr>
          <a:xfrm>
            <a:off x="2514599" y="3061911"/>
            <a:ext cx="187452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algn="ctr">
              <a:defRPr b="1" sz="2200">
                <a:solidFill>
                  <a:srgbClr val="CEB888"/>
                </a:solidFill>
              </a:defRPr>
            </a:lvl1pPr>
          </a:lstStyle>
          <a:p>
            <a:pPr/>
            <a:r>
              <a:t>85</a:t>
            </a:r>
          </a:p>
        </p:txBody>
      </p:sp>
      <p:sp>
        <p:nvSpPr>
          <p:cNvPr id="71" name="Text 15"/>
          <p:cNvSpPr txBox="1"/>
          <p:nvPr/>
        </p:nvSpPr>
        <p:spPr>
          <a:xfrm>
            <a:off x="2514599" y="3508170"/>
            <a:ext cx="1874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>
                <a:solidFill>
                  <a:srgbClr val="D4B896"/>
                </a:solidFill>
              </a:defRPr>
            </a:lvl1pPr>
          </a:lstStyle>
          <a:p>
            <a:pPr/>
            <a:r>
              <a:t>Patients</a:t>
            </a:r>
          </a:p>
        </p:txBody>
      </p:sp>
      <p:sp>
        <p:nvSpPr>
          <p:cNvPr id="72" name="Shape 16"/>
          <p:cNvSpPr/>
          <p:nvPr/>
        </p:nvSpPr>
        <p:spPr>
          <a:xfrm>
            <a:off x="4617720" y="2944367"/>
            <a:ext cx="1965961" cy="960121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3" name="Text 17"/>
          <p:cNvSpPr txBox="1"/>
          <p:nvPr/>
        </p:nvSpPr>
        <p:spPr>
          <a:xfrm>
            <a:off x="4663440" y="3061911"/>
            <a:ext cx="187452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algn="ctr">
              <a:defRPr b="1" sz="2200">
                <a:solidFill>
                  <a:srgbClr val="CEB888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4" name="Text 18"/>
          <p:cNvSpPr txBox="1"/>
          <p:nvPr/>
        </p:nvSpPr>
        <p:spPr>
          <a:xfrm>
            <a:off x="4663440" y="3508170"/>
            <a:ext cx="1874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>
                <a:solidFill>
                  <a:srgbClr val="D4B896"/>
                </a:solidFill>
              </a:defRPr>
            </a:lvl1pPr>
          </a:lstStyle>
          <a:p>
            <a:pPr/>
            <a:r>
              <a:t>Target Classes</a:t>
            </a:r>
          </a:p>
        </p:txBody>
      </p:sp>
      <p:sp>
        <p:nvSpPr>
          <p:cNvPr id="75" name="Shape 19"/>
          <p:cNvSpPr/>
          <p:nvPr/>
        </p:nvSpPr>
        <p:spPr>
          <a:xfrm>
            <a:off x="6766559" y="2944367"/>
            <a:ext cx="1965961" cy="960121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6" name="Text 20"/>
          <p:cNvSpPr txBox="1"/>
          <p:nvPr/>
        </p:nvSpPr>
        <p:spPr>
          <a:xfrm>
            <a:off x="6812279" y="3061911"/>
            <a:ext cx="187452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algn="ctr">
              <a:defRPr b="1" sz="2200">
                <a:solidFill>
                  <a:srgbClr val="CEB888"/>
                </a:solidFill>
              </a:defRPr>
            </a:lvl1pPr>
          </a:lstStyle>
          <a:p>
            <a:pPr/>
            <a:r>
              <a:t>2.47 GB</a:t>
            </a:r>
          </a:p>
        </p:txBody>
      </p:sp>
      <p:sp>
        <p:nvSpPr>
          <p:cNvPr id="77" name="Text 21"/>
          <p:cNvSpPr txBox="1"/>
          <p:nvPr/>
        </p:nvSpPr>
        <p:spPr>
          <a:xfrm>
            <a:off x="6812279" y="3508170"/>
            <a:ext cx="1874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>
                <a:solidFill>
                  <a:srgbClr val="D4B896"/>
                </a:solidFill>
              </a:defRPr>
            </a:lvl1pPr>
          </a:lstStyle>
          <a:p>
            <a:pPr/>
            <a:r>
              <a:t>Dataset Size</a:t>
            </a:r>
          </a:p>
        </p:txBody>
      </p:sp>
      <p:sp>
        <p:nvSpPr>
          <p:cNvPr id="78" name="TextBox 24"/>
          <p:cNvSpPr txBox="1"/>
          <p:nvPr/>
        </p:nvSpPr>
        <p:spPr>
          <a:xfrm>
            <a:off x="8791237" y="4898571"/>
            <a:ext cx="203915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1" name="Text 1"/>
          <p:cNvSpPr txBox="1"/>
          <p:nvPr/>
        </p:nvSpPr>
        <p:spPr>
          <a:xfrm>
            <a:off x="411479" y="132949"/>
            <a:ext cx="8138161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02  |  Model Architecture — U-Net</a:t>
            </a:r>
          </a:p>
        </p:txBody>
      </p:sp>
      <p:sp>
        <p:nvSpPr>
          <p:cNvPr id="82" name="Shape 2"/>
          <p:cNvSpPr/>
          <p:nvPr/>
        </p:nvSpPr>
        <p:spPr>
          <a:xfrm>
            <a:off x="228600" y="1005839"/>
            <a:ext cx="1188720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Text 3"/>
          <p:cNvSpPr txBox="1"/>
          <p:nvPr/>
        </p:nvSpPr>
        <p:spPr>
          <a:xfrm>
            <a:off x="274320" y="1070776"/>
            <a:ext cx="1097280" cy="345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Input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[B,1,320,320]</a:t>
            </a:r>
          </a:p>
        </p:txBody>
      </p:sp>
      <p:sp>
        <p:nvSpPr>
          <p:cNvPr id="84" name="Shape 4"/>
          <p:cNvSpPr/>
          <p:nvPr/>
        </p:nvSpPr>
        <p:spPr>
          <a:xfrm>
            <a:off x="1600199" y="1005839"/>
            <a:ext cx="1097282" cy="475488"/>
          </a:xfrm>
          <a:prstGeom prst="rect">
            <a:avLst/>
          </a:prstGeom>
          <a:solidFill>
            <a:srgbClr val="8B2A48"/>
          </a:solidFill>
          <a:ln w="12700">
            <a:solidFill>
              <a:srgbClr val="8B2A4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5"/>
          <p:cNvSpPr txBox="1"/>
          <p:nvPr/>
        </p:nvSpPr>
        <p:spPr>
          <a:xfrm>
            <a:off x="1645919" y="1070776"/>
            <a:ext cx="1005842" cy="345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Enc 1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64 ch</a:t>
            </a:r>
          </a:p>
        </p:txBody>
      </p:sp>
      <p:sp>
        <p:nvSpPr>
          <p:cNvPr id="86" name="Shape 6"/>
          <p:cNvSpPr/>
          <p:nvPr/>
        </p:nvSpPr>
        <p:spPr>
          <a:xfrm>
            <a:off x="2697479" y="1243583"/>
            <a:ext cx="182881" cy="1"/>
          </a:xfrm>
          <a:prstGeom prst="line">
            <a:avLst/>
          </a:prstGeom>
          <a:ln w="19050">
            <a:solidFill>
              <a:srgbClr val="888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" name="Shape 7"/>
          <p:cNvSpPr/>
          <p:nvPr/>
        </p:nvSpPr>
        <p:spPr>
          <a:xfrm>
            <a:off x="2880360" y="1207008"/>
            <a:ext cx="1097281" cy="457201"/>
          </a:xfrm>
          <a:prstGeom prst="rect">
            <a:avLst/>
          </a:prstGeom>
          <a:solidFill>
            <a:srgbClr val="7A2040"/>
          </a:solidFill>
          <a:ln w="12700">
            <a:solidFill>
              <a:srgbClr val="7A204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Text 8"/>
          <p:cNvSpPr txBox="1"/>
          <p:nvPr/>
        </p:nvSpPr>
        <p:spPr>
          <a:xfrm>
            <a:off x="2926080" y="1262801"/>
            <a:ext cx="100584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Enc 2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128 ch</a:t>
            </a:r>
          </a:p>
        </p:txBody>
      </p:sp>
      <p:sp>
        <p:nvSpPr>
          <p:cNvPr id="89" name="Shape 9"/>
          <p:cNvSpPr/>
          <p:nvPr/>
        </p:nvSpPr>
        <p:spPr>
          <a:xfrm>
            <a:off x="3977640" y="1435608"/>
            <a:ext cx="182881" cy="1"/>
          </a:xfrm>
          <a:prstGeom prst="line">
            <a:avLst/>
          </a:prstGeom>
          <a:ln w="19050">
            <a:solidFill>
              <a:srgbClr val="888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Shape 10"/>
          <p:cNvSpPr/>
          <p:nvPr/>
        </p:nvSpPr>
        <p:spPr>
          <a:xfrm>
            <a:off x="4160520" y="1408175"/>
            <a:ext cx="1097281" cy="438913"/>
          </a:xfrm>
          <a:prstGeom prst="rect">
            <a:avLst/>
          </a:prstGeom>
          <a:solidFill>
            <a:srgbClr val="681638"/>
          </a:solidFill>
          <a:ln w="12700">
            <a:solidFill>
              <a:srgbClr val="68163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11"/>
          <p:cNvSpPr txBox="1"/>
          <p:nvPr/>
        </p:nvSpPr>
        <p:spPr>
          <a:xfrm>
            <a:off x="4206240" y="1454825"/>
            <a:ext cx="100584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Enc 3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256 ch</a:t>
            </a:r>
          </a:p>
        </p:txBody>
      </p:sp>
      <p:sp>
        <p:nvSpPr>
          <p:cNvPr id="92" name="Shape 12"/>
          <p:cNvSpPr/>
          <p:nvPr/>
        </p:nvSpPr>
        <p:spPr>
          <a:xfrm>
            <a:off x="5257799" y="1627632"/>
            <a:ext cx="182881" cy="1"/>
          </a:xfrm>
          <a:prstGeom prst="line">
            <a:avLst/>
          </a:prstGeom>
          <a:ln w="19050">
            <a:solidFill>
              <a:srgbClr val="888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3" name="Shape 13"/>
          <p:cNvSpPr/>
          <p:nvPr/>
        </p:nvSpPr>
        <p:spPr>
          <a:xfrm>
            <a:off x="5440679" y="1609344"/>
            <a:ext cx="1097281" cy="420625"/>
          </a:xfrm>
          <a:prstGeom prst="rect">
            <a:avLst/>
          </a:prstGeom>
          <a:solidFill>
            <a:srgbClr val="3D0C1F"/>
          </a:solidFill>
          <a:ln w="12700">
            <a:solidFill>
              <a:srgbClr val="3D0C1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14"/>
          <p:cNvSpPr txBox="1"/>
          <p:nvPr/>
        </p:nvSpPr>
        <p:spPr>
          <a:xfrm>
            <a:off x="5486399" y="1646849"/>
            <a:ext cx="100584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Bottleneck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512 ch</a:t>
            </a:r>
          </a:p>
        </p:txBody>
      </p:sp>
      <p:sp>
        <p:nvSpPr>
          <p:cNvPr id="95" name="Shape 15"/>
          <p:cNvSpPr/>
          <p:nvPr/>
        </p:nvSpPr>
        <p:spPr>
          <a:xfrm flipH="1">
            <a:off x="1600200" y="1243583"/>
            <a:ext cx="1" cy="1280161"/>
          </a:xfrm>
          <a:prstGeom prst="line">
            <a:avLst/>
          </a:prstGeom>
          <a:ln w="12700">
            <a:solidFill>
              <a:srgbClr val="CEB888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Text 16"/>
          <p:cNvSpPr txBox="1"/>
          <p:nvPr/>
        </p:nvSpPr>
        <p:spPr>
          <a:xfrm>
            <a:off x="1005839" y="1466631"/>
            <a:ext cx="502921" cy="450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i="1" sz="800">
                <a:solidFill>
                  <a:srgbClr val="CEB888"/>
                </a:solidFill>
              </a:defRPr>
            </a:pPr>
            <a:r>
              <a:t>Skip</a:t>
            </a:r>
          </a:p>
          <a:p>
            <a:pPr algn="ctr">
              <a:defRPr i="1" sz="800">
                <a:solidFill>
                  <a:srgbClr val="CEB888"/>
                </a:solidFill>
              </a:defRPr>
            </a:pPr>
            <a:r>
              <a:t>Connections</a:t>
            </a:r>
          </a:p>
        </p:txBody>
      </p:sp>
      <p:sp>
        <p:nvSpPr>
          <p:cNvPr id="97" name="Shape 17"/>
          <p:cNvSpPr/>
          <p:nvPr/>
        </p:nvSpPr>
        <p:spPr>
          <a:xfrm>
            <a:off x="4892040" y="1956816"/>
            <a:ext cx="1097281" cy="420625"/>
          </a:xfrm>
          <a:prstGeom prst="rect">
            <a:avLst/>
          </a:prstGeom>
          <a:solidFill>
            <a:srgbClr val="681638"/>
          </a:solidFill>
          <a:ln w="12700">
            <a:solidFill>
              <a:srgbClr val="68163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18"/>
          <p:cNvSpPr txBox="1"/>
          <p:nvPr/>
        </p:nvSpPr>
        <p:spPr>
          <a:xfrm>
            <a:off x="4937760" y="1994321"/>
            <a:ext cx="100584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Dec 3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256 ch</a:t>
            </a:r>
          </a:p>
        </p:txBody>
      </p:sp>
      <p:sp>
        <p:nvSpPr>
          <p:cNvPr id="99" name="Shape 19"/>
          <p:cNvSpPr/>
          <p:nvPr/>
        </p:nvSpPr>
        <p:spPr>
          <a:xfrm>
            <a:off x="5989320" y="2167127"/>
            <a:ext cx="137161" cy="1"/>
          </a:xfrm>
          <a:prstGeom prst="line">
            <a:avLst/>
          </a:prstGeom>
          <a:ln w="19050">
            <a:solidFill>
              <a:srgbClr val="888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Shape 20"/>
          <p:cNvSpPr/>
          <p:nvPr/>
        </p:nvSpPr>
        <p:spPr>
          <a:xfrm>
            <a:off x="6126479" y="1755648"/>
            <a:ext cx="1097281" cy="438913"/>
          </a:xfrm>
          <a:prstGeom prst="rect">
            <a:avLst/>
          </a:prstGeom>
          <a:solidFill>
            <a:srgbClr val="7A2040"/>
          </a:solidFill>
          <a:ln w="12700">
            <a:solidFill>
              <a:srgbClr val="7A204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21"/>
          <p:cNvSpPr txBox="1"/>
          <p:nvPr/>
        </p:nvSpPr>
        <p:spPr>
          <a:xfrm>
            <a:off x="6172199" y="1802297"/>
            <a:ext cx="100584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Dec 2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128 ch</a:t>
            </a:r>
          </a:p>
        </p:txBody>
      </p:sp>
      <p:sp>
        <p:nvSpPr>
          <p:cNvPr id="102" name="Shape 22"/>
          <p:cNvSpPr/>
          <p:nvPr/>
        </p:nvSpPr>
        <p:spPr>
          <a:xfrm>
            <a:off x="7223759" y="1975104"/>
            <a:ext cx="137161" cy="1"/>
          </a:xfrm>
          <a:prstGeom prst="line">
            <a:avLst/>
          </a:prstGeom>
          <a:ln w="19050">
            <a:solidFill>
              <a:srgbClr val="888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Shape 23"/>
          <p:cNvSpPr/>
          <p:nvPr/>
        </p:nvSpPr>
        <p:spPr>
          <a:xfrm>
            <a:off x="7360919" y="1554480"/>
            <a:ext cx="1097281" cy="457201"/>
          </a:xfrm>
          <a:prstGeom prst="rect">
            <a:avLst/>
          </a:prstGeom>
          <a:solidFill>
            <a:srgbClr val="8B2A48"/>
          </a:solidFill>
          <a:ln w="12700">
            <a:solidFill>
              <a:srgbClr val="8B2A4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Text 24"/>
          <p:cNvSpPr txBox="1"/>
          <p:nvPr/>
        </p:nvSpPr>
        <p:spPr>
          <a:xfrm>
            <a:off x="7406639" y="1610273"/>
            <a:ext cx="100584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Dec 1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64 ch</a:t>
            </a:r>
          </a:p>
        </p:txBody>
      </p:sp>
      <p:sp>
        <p:nvSpPr>
          <p:cNvPr id="105" name="Shape 25"/>
          <p:cNvSpPr/>
          <p:nvPr/>
        </p:nvSpPr>
        <p:spPr>
          <a:xfrm>
            <a:off x="7726680" y="1005839"/>
            <a:ext cx="1188721" cy="475488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Text 26"/>
          <p:cNvSpPr txBox="1"/>
          <p:nvPr/>
        </p:nvSpPr>
        <p:spPr>
          <a:xfrm>
            <a:off x="7772400" y="1070776"/>
            <a:ext cx="1097281" cy="345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3D0C1F"/>
                </a:solidFill>
              </a:defRPr>
            </a:pPr>
            <a:r>
              <a:t>Output</a:t>
            </a:r>
          </a:p>
          <a:p>
            <a:pPr algn="ctr">
              <a:defRPr b="1" sz="900">
                <a:solidFill>
                  <a:srgbClr val="3D0C1F"/>
                </a:solidFill>
              </a:defRPr>
            </a:pPr>
            <a:r>
              <a:t>[B,3,320,320]</a:t>
            </a:r>
          </a:p>
        </p:txBody>
      </p:sp>
      <p:sp>
        <p:nvSpPr>
          <p:cNvPr id="107" name="Shape 27"/>
          <p:cNvSpPr/>
          <p:nvPr/>
        </p:nvSpPr>
        <p:spPr>
          <a:xfrm>
            <a:off x="228599" y="2606039"/>
            <a:ext cx="2788922" cy="233172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08" name="Shape 28"/>
          <p:cNvSpPr/>
          <p:nvPr/>
        </p:nvSpPr>
        <p:spPr>
          <a:xfrm>
            <a:off x="228599" y="2606039"/>
            <a:ext cx="2788922" cy="329185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9" name="Text 29"/>
          <p:cNvSpPr txBox="1"/>
          <p:nvPr/>
        </p:nvSpPr>
        <p:spPr>
          <a:xfrm>
            <a:off x="365760" y="2646479"/>
            <a:ext cx="251460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Input / Output</a:t>
            </a:r>
          </a:p>
        </p:txBody>
      </p:sp>
      <p:sp>
        <p:nvSpPr>
          <p:cNvPr id="110" name="Text 30"/>
          <p:cNvSpPr txBox="1"/>
          <p:nvPr/>
        </p:nvSpPr>
        <p:spPr>
          <a:xfrm>
            <a:off x="384048" y="3470578"/>
            <a:ext cx="2487168" cy="886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1A1A1A"/>
                </a:solidFill>
              </a:defRPr>
            </a:pPr>
            <a:r>
              <a:t>Input: [B, 1, 224, 224]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Normalized float32 (μ=0, σ=1)</a:t>
            </a:r>
          </a:p>
          <a:p>
            <a:pPr>
              <a:defRPr sz="1100"/>
            </a:pP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Output: [B, 3, 320, 320]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Per-class binary sigmoid masks</a:t>
            </a:r>
          </a:p>
        </p:txBody>
      </p:sp>
      <p:sp>
        <p:nvSpPr>
          <p:cNvPr id="111" name="Shape 31"/>
          <p:cNvSpPr/>
          <p:nvPr/>
        </p:nvSpPr>
        <p:spPr>
          <a:xfrm>
            <a:off x="3200399" y="2606039"/>
            <a:ext cx="2788922" cy="233172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2" name="Shape 32"/>
          <p:cNvSpPr/>
          <p:nvPr/>
        </p:nvSpPr>
        <p:spPr>
          <a:xfrm>
            <a:off x="3200399" y="2606039"/>
            <a:ext cx="2788922" cy="329185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33"/>
          <p:cNvSpPr txBox="1"/>
          <p:nvPr/>
        </p:nvSpPr>
        <p:spPr>
          <a:xfrm>
            <a:off x="3337560" y="2646479"/>
            <a:ext cx="251460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Architecture Details</a:t>
            </a:r>
          </a:p>
        </p:txBody>
      </p:sp>
      <p:sp>
        <p:nvSpPr>
          <p:cNvPr id="114" name="Text 34"/>
          <p:cNvSpPr txBox="1"/>
          <p:nvPr/>
        </p:nvSpPr>
        <p:spPr>
          <a:xfrm>
            <a:off x="3355848" y="3553128"/>
            <a:ext cx="2487169" cy="721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1A1A1A"/>
                </a:solidFill>
              </a:defRPr>
            </a:pPr>
            <a:r>
              <a:t>2D U-Net (encoder-decoder)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Skip connections preserve edges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Batch Norm + ReLU per block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Pre-trained backbone: EfficientNet-B4</a:t>
            </a:r>
          </a:p>
        </p:txBody>
      </p:sp>
      <p:sp>
        <p:nvSpPr>
          <p:cNvPr id="115" name="Shape 35"/>
          <p:cNvSpPr/>
          <p:nvPr/>
        </p:nvSpPr>
        <p:spPr>
          <a:xfrm>
            <a:off x="6172199" y="2606039"/>
            <a:ext cx="2788922" cy="233172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6" name="Shape 36"/>
          <p:cNvSpPr/>
          <p:nvPr/>
        </p:nvSpPr>
        <p:spPr>
          <a:xfrm>
            <a:off x="6172199" y="2606039"/>
            <a:ext cx="2788922" cy="329185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Text 37"/>
          <p:cNvSpPr txBox="1"/>
          <p:nvPr/>
        </p:nvSpPr>
        <p:spPr>
          <a:xfrm>
            <a:off x="6309360" y="2646479"/>
            <a:ext cx="251460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3D0C1F"/>
                </a:solidFill>
              </a:defRPr>
            </a:lvl1pPr>
          </a:lstStyle>
          <a:p>
            <a:pPr/>
            <a:r>
              <a:t>2.5D Extension (Planned)</a:t>
            </a:r>
          </a:p>
        </p:txBody>
      </p:sp>
      <p:sp>
        <p:nvSpPr>
          <p:cNvPr id="118" name="Text 38"/>
          <p:cNvSpPr txBox="1"/>
          <p:nvPr/>
        </p:nvSpPr>
        <p:spPr>
          <a:xfrm>
            <a:off x="6327648" y="3553128"/>
            <a:ext cx="2487169" cy="721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1A1A1A"/>
                </a:solidFill>
              </a:defRPr>
            </a:pPr>
            <a:r>
              <a:t>Stack N=3 adjacent slices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as input channels [B, 3, H, W]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Adds depth context without</a:t>
            </a:r>
          </a:p>
          <a:p>
            <a:pPr>
              <a:defRPr sz="1100">
                <a:solidFill>
                  <a:srgbClr val="1A1A1A"/>
                </a:solidFill>
              </a:defRPr>
            </a:pPr>
            <a:r>
              <a:t>3D convolution overhead</a:t>
            </a:r>
          </a:p>
        </p:txBody>
      </p:sp>
      <p:sp>
        <p:nvSpPr>
          <p:cNvPr id="119" name="TextBox 41"/>
          <p:cNvSpPr txBox="1"/>
          <p:nvPr/>
        </p:nvSpPr>
        <p:spPr>
          <a:xfrm>
            <a:off x="8812271" y="4829819"/>
            <a:ext cx="182881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2" name="Text 1"/>
          <p:cNvSpPr txBox="1"/>
          <p:nvPr/>
        </p:nvSpPr>
        <p:spPr>
          <a:xfrm>
            <a:off x="411479" y="132949"/>
            <a:ext cx="8138161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03  |  Training &amp; Validation Results</a:t>
            </a:r>
          </a:p>
        </p:txBody>
      </p:sp>
      <p:sp>
        <p:nvSpPr>
          <p:cNvPr id="123" name="Shape 2"/>
          <p:cNvSpPr/>
          <p:nvPr/>
        </p:nvSpPr>
        <p:spPr>
          <a:xfrm>
            <a:off x="228599" y="777240"/>
            <a:ext cx="2926082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4" name="Shape 3"/>
          <p:cNvSpPr/>
          <p:nvPr/>
        </p:nvSpPr>
        <p:spPr>
          <a:xfrm>
            <a:off x="228599" y="777240"/>
            <a:ext cx="2926082" cy="329185"/>
          </a:xfrm>
          <a:prstGeom prst="rect">
            <a:avLst/>
          </a:prstGeom>
          <a:solidFill>
            <a:srgbClr val="A0243C"/>
          </a:solidFill>
          <a:ln w="12700">
            <a:solidFill>
              <a:srgbClr val="A024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5" name="Text 4"/>
          <p:cNvSpPr txBox="1"/>
          <p:nvPr/>
        </p:nvSpPr>
        <p:spPr>
          <a:xfrm>
            <a:off x="365760" y="812731"/>
            <a:ext cx="26517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Training Setup</a:t>
            </a:r>
          </a:p>
        </p:txBody>
      </p:sp>
      <p:sp>
        <p:nvSpPr>
          <p:cNvPr id="126" name="Text 5"/>
          <p:cNvSpPr txBox="1"/>
          <p:nvPr/>
        </p:nvSpPr>
        <p:spPr>
          <a:xfrm>
            <a:off x="393191" y="1353488"/>
            <a:ext cx="2560322" cy="1051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100">
                <a:solidFill>
                  <a:srgbClr val="1A1A1A"/>
                </a:solidFill>
              </a:defRPr>
            </a:pPr>
            <a:r>
              <a:t>Optimizer:</a:t>
            </a:r>
            <a:r>
              <a:rPr b="0"/>
              <a:t>  AdamW (lr=1e-4)</a:t>
            </a:r>
            <a:endParaRPr b="0"/>
          </a:p>
          <a:p>
            <a:pPr>
              <a:defRPr b="1" sz="1100">
                <a:solidFill>
                  <a:srgbClr val="1A1A1A"/>
                </a:solidFill>
              </a:defRPr>
            </a:pPr>
            <a:r>
              <a:t>Scheduler:</a:t>
            </a:r>
            <a:r>
              <a:rPr b="0"/>
              <a:t>  CosineAnnealing</a:t>
            </a:r>
            <a:endParaRPr b="0"/>
          </a:p>
          <a:p>
            <a:pPr>
              <a:defRPr b="1" sz="1100">
                <a:solidFill>
                  <a:srgbClr val="1A1A1A"/>
                </a:solidFill>
              </a:defRPr>
            </a:pPr>
            <a:r>
              <a:t>Batch Size:</a:t>
            </a:r>
            <a:r>
              <a:rPr b="0"/>
              <a:t>  16  |  Workers: 2</a:t>
            </a:r>
          </a:p>
          <a:p>
            <a:pPr>
              <a:defRPr b="1" sz="1100">
                <a:solidFill>
                  <a:srgbClr val="1A1A1A"/>
                </a:solidFill>
              </a:defRPr>
            </a:pPr>
            <a:r>
              <a:t>Image Size:</a:t>
            </a:r>
            <a:r>
              <a:rPr b="0"/>
              <a:t> 224 x 224</a:t>
            </a:r>
            <a:endParaRPr b="0"/>
          </a:p>
          <a:p>
            <a:pPr>
              <a:defRPr b="1" sz="1100">
                <a:solidFill>
                  <a:srgbClr val="1A1A1A"/>
                </a:solidFill>
              </a:defRPr>
            </a:pPr>
            <a:r>
              <a:t>Epochs Run:</a:t>
            </a:r>
            <a:r>
              <a:rPr b="0"/>
              <a:t>  100</a:t>
            </a:r>
            <a:endParaRPr b="0"/>
          </a:p>
          <a:p>
            <a:pPr>
              <a:defRPr b="1" sz="1100">
                <a:solidFill>
                  <a:srgbClr val="1A1A1A"/>
                </a:solidFill>
              </a:defRPr>
            </a:pPr>
            <a:r>
              <a:t>Loss:</a:t>
            </a:r>
            <a:r>
              <a:rPr b="0"/>
              <a:t>  BCEWithLogitsLoss</a:t>
            </a:r>
          </a:p>
        </p:txBody>
      </p:sp>
      <p:sp>
        <p:nvSpPr>
          <p:cNvPr id="127" name="Shape 6"/>
          <p:cNvSpPr/>
          <p:nvPr/>
        </p:nvSpPr>
        <p:spPr>
          <a:xfrm>
            <a:off x="3341176" y="777239"/>
            <a:ext cx="5742202" cy="1931093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8" name="Shape 7"/>
          <p:cNvSpPr/>
          <p:nvPr/>
        </p:nvSpPr>
        <p:spPr>
          <a:xfrm>
            <a:off x="3344793" y="777240"/>
            <a:ext cx="5738584" cy="329185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Text 8"/>
          <p:cNvSpPr txBox="1"/>
          <p:nvPr/>
        </p:nvSpPr>
        <p:spPr>
          <a:xfrm>
            <a:off x="3474720" y="817679"/>
            <a:ext cx="512064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3D0C1F"/>
                </a:solidFill>
              </a:defRPr>
            </a:lvl1pPr>
          </a:lstStyle>
          <a:p>
            <a:pPr/>
            <a:r>
              <a:t>Sample Output from Epoch 52 –&gt; Epoch 53</a:t>
            </a:r>
          </a:p>
        </p:txBody>
      </p:sp>
      <p:graphicFrame>
        <p:nvGraphicFramePr>
          <p:cNvPr id="130" name="Table 0"/>
          <p:cNvGraphicFramePr/>
          <p:nvPr/>
        </p:nvGraphicFramePr>
        <p:xfrm>
          <a:off x="3356657" y="1171936"/>
          <a:ext cx="5732332" cy="141732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307372"/>
                <a:gridCol w="1106240"/>
                <a:gridCol w="1407941"/>
                <a:gridCol w="1910778"/>
              </a:tblGrid>
              <a:tr h="28346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solidFill>
                      <a:srgbClr val="6B1E3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Dice ↑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solidFill>
                      <a:srgbClr val="6B1E3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Hausdorff ↓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solidFill>
                      <a:srgbClr val="6B1E3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solidFill>
                      <a:srgbClr val="6B1E3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Stomach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0.793 -&gt; 0.808 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Strongest performance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Small Bowel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0.714 -&gt; 0.710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High shape variability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Large Bowel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0.685 -&gt; 0.685 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Major BottleNeck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/>
                        <a:t>Mean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0.731 -&gt;  0.734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0.2026 </a:t>
                      </a:r>
                      <a:r>
                        <a:rPr b="1"/>
                        <a:t>-&gt; </a:t>
                      </a:r>
                      <a:r>
                        <a:t>0.2001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100"/>
                      </a:pPr>
                      <a:r>
                        <a:t>Comp Score: </a:t>
                      </a:r>
                      <a:r>
                        <a:rPr b="0"/>
                        <a:t>0.7708 -&gt;0.7737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0C4BC"/>
                      </a:solidFill>
                    </a:lnL>
                    <a:lnR w="6350">
                      <a:solidFill>
                        <a:srgbClr val="D0C4BC"/>
                      </a:solidFill>
                    </a:lnR>
                    <a:lnT w="6350">
                      <a:solidFill>
                        <a:srgbClr val="D0C4BC"/>
                      </a:solidFill>
                    </a:lnT>
                    <a:lnB w="6350">
                      <a:solidFill>
                        <a:srgbClr val="D0C4BC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1" name="TextBox 13"/>
          <p:cNvSpPr txBox="1"/>
          <p:nvPr/>
        </p:nvSpPr>
        <p:spPr>
          <a:xfrm>
            <a:off x="8802208" y="4898571"/>
            <a:ext cx="192944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Text 1"/>
          <p:cNvSpPr txBox="1"/>
          <p:nvPr/>
        </p:nvSpPr>
        <p:spPr>
          <a:xfrm>
            <a:off x="411479" y="132949"/>
            <a:ext cx="8138161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04 | Visualizing Training Issues</a:t>
            </a:r>
          </a:p>
        </p:txBody>
      </p:sp>
      <p:sp>
        <p:nvSpPr>
          <p:cNvPr id="135" name="Shape 3"/>
          <p:cNvSpPr/>
          <p:nvPr/>
        </p:nvSpPr>
        <p:spPr>
          <a:xfrm>
            <a:off x="376899" y="777240"/>
            <a:ext cx="3385453" cy="419612"/>
          </a:xfrm>
          <a:prstGeom prst="rect">
            <a:avLst/>
          </a:prstGeom>
          <a:solidFill>
            <a:srgbClr val="A0243C"/>
          </a:solidFill>
          <a:ln w="12700">
            <a:solidFill>
              <a:srgbClr val="A024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4"/>
          <p:cNvSpPr txBox="1"/>
          <p:nvPr/>
        </p:nvSpPr>
        <p:spPr>
          <a:xfrm>
            <a:off x="365760" y="863370"/>
            <a:ext cx="3353475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Getting Deep into Code</a:t>
            </a:r>
          </a:p>
        </p:txBody>
      </p:sp>
      <p:sp>
        <p:nvSpPr>
          <p:cNvPr id="137" name="Shape 7"/>
          <p:cNvSpPr/>
          <p:nvPr/>
        </p:nvSpPr>
        <p:spPr>
          <a:xfrm>
            <a:off x="4715669" y="777240"/>
            <a:ext cx="4302601" cy="329185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Text 8"/>
          <p:cNvSpPr txBox="1"/>
          <p:nvPr/>
        </p:nvSpPr>
        <p:spPr>
          <a:xfrm>
            <a:off x="4744316" y="817679"/>
            <a:ext cx="4212754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3D0C1F"/>
                </a:solidFill>
              </a:defRPr>
            </a:lvl1pPr>
          </a:lstStyle>
          <a:p>
            <a:pPr/>
            <a:r>
              <a:t>50 Epoch training snippet of Dice</a:t>
            </a:r>
          </a:p>
        </p:txBody>
      </p:sp>
      <p:pic>
        <p:nvPicPr>
          <p:cNvPr id="139" name="Picture 11" descr="Picture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13065" y="1169569"/>
            <a:ext cx="4304337" cy="2073709"/>
          </a:xfrm>
          <a:prstGeom prst="rect">
            <a:avLst/>
          </a:prstGeom>
          <a:ln w="12700">
            <a:miter lim="400000"/>
          </a:ln>
        </p:spPr>
      </p:pic>
      <p:pic>
        <p:nvPicPr>
          <p:cNvPr id="140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72854" y="1208106"/>
            <a:ext cx="3395861" cy="2940695"/>
          </a:xfrm>
          <a:prstGeom prst="rect">
            <a:avLst/>
          </a:prstGeom>
          <a:ln w="12700">
            <a:miter lim="400000"/>
          </a:ln>
        </p:spPr>
      </p:pic>
      <p:sp>
        <p:nvSpPr>
          <p:cNvPr id="141" name="TextBox 13"/>
          <p:cNvSpPr txBox="1"/>
          <p:nvPr/>
        </p:nvSpPr>
        <p:spPr>
          <a:xfrm>
            <a:off x="8802208" y="4898571"/>
            <a:ext cx="192943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1"/>
          <p:cNvSpPr txBox="1"/>
          <p:nvPr/>
        </p:nvSpPr>
        <p:spPr>
          <a:xfrm>
            <a:off x="411479" y="132949"/>
            <a:ext cx="8138161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05 |  Preliminary Interpretation</a:t>
            </a:r>
          </a:p>
        </p:txBody>
      </p:sp>
      <p:sp>
        <p:nvSpPr>
          <p:cNvPr id="145" name="Shape 2"/>
          <p:cNvSpPr/>
          <p:nvPr/>
        </p:nvSpPr>
        <p:spPr>
          <a:xfrm>
            <a:off x="228600" y="822959"/>
            <a:ext cx="4251960" cy="3977642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6" name="Shape 3"/>
          <p:cNvSpPr/>
          <p:nvPr/>
        </p:nvSpPr>
        <p:spPr>
          <a:xfrm>
            <a:off x="228600" y="822960"/>
            <a:ext cx="4251960" cy="365761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Text 4"/>
          <p:cNvSpPr txBox="1"/>
          <p:nvPr/>
        </p:nvSpPr>
        <p:spPr>
          <a:xfrm>
            <a:off x="384047" y="876739"/>
            <a:ext cx="393192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What's Working</a:t>
            </a:r>
          </a:p>
        </p:txBody>
      </p:sp>
      <p:sp>
        <p:nvSpPr>
          <p:cNvPr id="148" name="Text 5"/>
          <p:cNvSpPr txBox="1"/>
          <p:nvPr/>
        </p:nvSpPr>
        <p:spPr>
          <a:xfrm>
            <a:off x="438911" y="1385369"/>
            <a:ext cx="3886202" cy="3182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1A1A1A"/>
                </a:solidFill>
              </a:defRPr>
            </a:pPr>
            <a:r>
              <a:t>Hausdorff mean is doing well, decreasing at a rate of around .003 per Epoch </a:t>
            </a:r>
          </a:p>
          <a:p>
            <a:pPr marL="342900" indent="-342900">
              <a:spcBef>
                <a:spcPts val="600"/>
              </a:spcBef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Stomach — consistently 0.79-0.81 Dice, easiest anatomy for the model to find. Well-defined shape, large surface area, appears frequently in slices.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1A1A1A"/>
                </a:solidFill>
              </a:defRPr>
            </a:pPr>
            <a:r>
              <a:t>Loss curves converge smoothly; no training instability detected, so architecture isn't a problem.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1A1A1A"/>
                </a:solidFill>
              </a:defRPr>
            </a:pPr>
            <a:r>
              <a:t>Global normalization (calcStats.json) consistent across train/val split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1A1A1A"/>
                </a:solidFill>
              </a:defRPr>
            </a:pPr>
            <a:r>
              <a:t>DataLoader pipeline verified — images and masks align correctly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1A1A1A"/>
                </a:solidFill>
              </a:defRPr>
            </a:pPr>
            <a:r>
              <a:t>Composite Score – Since HD Mean takes up 60% this is still relatively high</a:t>
            </a:r>
          </a:p>
          <a:p>
            <a:pPr marL="342900" indent="-342900">
              <a:spcBef>
                <a:spcPts val="600"/>
              </a:spcBef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Implements 50/50 BCE + Dice loss for Combined Loss</a:t>
            </a:r>
          </a:p>
        </p:txBody>
      </p:sp>
      <p:sp>
        <p:nvSpPr>
          <p:cNvPr id="149" name="Shape 6"/>
          <p:cNvSpPr/>
          <p:nvPr/>
        </p:nvSpPr>
        <p:spPr>
          <a:xfrm>
            <a:off x="4709159" y="822959"/>
            <a:ext cx="4251961" cy="3977642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50" name="Shape 7"/>
          <p:cNvSpPr/>
          <p:nvPr/>
        </p:nvSpPr>
        <p:spPr>
          <a:xfrm>
            <a:off x="4709159" y="822960"/>
            <a:ext cx="4251961" cy="365761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Text 8"/>
          <p:cNvSpPr txBox="1"/>
          <p:nvPr/>
        </p:nvSpPr>
        <p:spPr>
          <a:xfrm>
            <a:off x="4864607" y="876739"/>
            <a:ext cx="393192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What's Struggling</a:t>
            </a:r>
          </a:p>
        </p:txBody>
      </p:sp>
      <p:sp>
        <p:nvSpPr>
          <p:cNvPr id="152" name="Text 9"/>
          <p:cNvSpPr txBox="1"/>
          <p:nvPr/>
        </p:nvSpPr>
        <p:spPr>
          <a:xfrm>
            <a:off x="4919472" y="1975919"/>
            <a:ext cx="3886201" cy="20009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1A1A1A"/>
                </a:solidFill>
              </a:defRPr>
            </a:pPr>
            <a:r>
              <a:t>Small bowel: High shape variability leads to lower shape recognition than stomach</a:t>
            </a:r>
          </a:p>
          <a:p>
            <a:pPr marL="342900" indent="-342900">
              <a:spcBef>
                <a:spcPts val="600"/>
              </a:spcBef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Large Bowel improvements stop possibly due to lack of annotation in the dataset</a:t>
            </a:r>
          </a:p>
          <a:p>
            <a:pPr marL="342900" indent="-342900">
              <a:spcBef>
                <a:spcPts val="600"/>
              </a:spcBef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Low worker amounts of 2 potentially means unoptimized parallelization when training</a:t>
            </a:r>
          </a:p>
          <a:p>
            <a:pPr marL="342900" indent="-342900">
              <a:spcBef>
                <a:spcPts val="600"/>
              </a:spcBef>
              <a:buSzPct val="100000"/>
              <a:buFont typeface="Arial"/>
              <a:buChar char="•"/>
              <a:defRPr sz="1200">
                <a:solidFill>
                  <a:srgbClr val="1A1A1A"/>
                </a:solidFill>
              </a:defRPr>
            </a:pPr>
            <a:r>
              <a:t>The loss function — DiceLoss was flattening across all classes before averaging, meaning large bowel was never getting targeted pressure.</a:t>
            </a:r>
          </a:p>
        </p:txBody>
      </p:sp>
      <p:sp>
        <p:nvSpPr>
          <p:cNvPr id="153" name="TextBox 12"/>
          <p:cNvSpPr txBox="1"/>
          <p:nvPr/>
        </p:nvSpPr>
        <p:spPr>
          <a:xfrm>
            <a:off x="8859430" y="4898571"/>
            <a:ext cx="135722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Text 1"/>
          <p:cNvSpPr txBox="1"/>
          <p:nvPr/>
        </p:nvSpPr>
        <p:spPr>
          <a:xfrm>
            <a:off x="411479" y="132949"/>
            <a:ext cx="8138161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06 |  Planned Improvements</a:t>
            </a:r>
          </a:p>
        </p:txBody>
      </p:sp>
      <p:sp>
        <p:nvSpPr>
          <p:cNvPr id="157" name="Shape 2"/>
          <p:cNvSpPr/>
          <p:nvPr/>
        </p:nvSpPr>
        <p:spPr>
          <a:xfrm>
            <a:off x="4713790" y="815725"/>
            <a:ext cx="4251961" cy="1965962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58" name="Shape 3"/>
          <p:cNvSpPr/>
          <p:nvPr/>
        </p:nvSpPr>
        <p:spPr>
          <a:xfrm>
            <a:off x="4713790" y="815725"/>
            <a:ext cx="329185" cy="196596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Shape 4"/>
          <p:cNvSpPr/>
          <p:nvPr/>
        </p:nvSpPr>
        <p:spPr>
          <a:xfrm>
            <a:off x="4759509" y="861445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Text 5"/>
          <p:cNvSpPr txBox="1"/>
          <p:nvPr/>
        </p:nvSpPr>
        <p:spPr>
          <a:xfrm>
            <a:off x="4796085" y="867464"/>
            <a:ext cx="164593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065A82"/>
                </a:solidFill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161" name="Text 6"/>
          <p:cNvSpPr txBox="1"/>
          <p:nvPr/>
        </p:nvSpPr>
        <p:spPr>
          <a:xfrm>
            <a:off x="5216710" y="933513"/>
            <a:ext cx="36118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A1A1A"/>
                </a:solidFill>
              </a:defRPr>
            </a:lvl1pPr>
          </a:lstStyle>
          <a:p>
            <a:pPr/>
            <a:r>
              <a:t>Preprocessing</a:t>
            </a:r>
          </a:p>
        </p:txBody>
      </p:sp>
      <p:sp>
        <p:nvSpPr>
          <p:cNvPr id="162" name="Text 7"/>
          <p:cNvSpPr txBox="1"/>
          <p:nvPr/>
        </p:nvSpPr>
        <p:spPr>
          <a:xfrm>
            <a:off x="5216710" y="1451033"/>
            <a:ext cx="3611881" cy="1061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spcBef>
                <a:spcPts val="400"/>
              </a:spcBef>
              <a:buSzPct val="100000"/>
              <a:buChar char="•"/>
              <a:defRPr sz="1200">
                <a:solidFill>
                  <a:srgbClr val="5A5A5A"/>
                </a:solidFill>
              </a:defRPr>
            </a:pPr>
            <a:r>
              <a:t>Apply CLAHE to normalize MRI scanner intensity drift</a:t>
            </a:r>
          </a:p>
          <a:p>
            <a:pPr marL="342900" indent="-342900">
              <a:spcBef>
                <a:spcPts val="400"/>
              </a:spcBef>
              <a:buSzPct val="100000"/>
              <a:buChar char="•"/>
              <a:defRPr sz="1200">
                <a:solidFill>
                  <a:srgbClr val="5A5A5A"/>
                </a:solidFill>
              </a:defRPr>
            </a:pPr>
            <a:r>
              <a:t>Increase target resolution from a downscaled 224 to a to-scale 320 and potential upscale comparison of 448</a:t>
            </a:r>
          </a:p>
        </p:txBody>
      </p:sp>
      <p:sp>
        <p:nvSpPr>
          <p:cNvPr id="163" name="Shape 14"/>
          <p:cNvSpPr/>
          <p:nvPr/>
        </p:nvSpPr>
        <p:spPr>
          <a:xfrm>
            <a:off x="221366" y="812397"/>
            <a:ext cx="4251960" cy="1965962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4" name="Shape 15"/>
          <p:cNvSpPr/>
          <p:nvPr/>
        </p:nvSpPr>
        <p:spPr>
          <a:xfrm>
            <a:off x="221365" y="812397"/>
            <a:ext cx="329185" cy="196596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5" name="Shape 16"/>
          <p:cNvSpPr/>
          <p:nvPr/>
        </p:nvSpPr>
        <p:spPr>
          <a:xfrm>
            <a:off x="267085" y="858117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17"/>
          <p:cNvSpPr txBox="1"/>
          <p:nvPr/>
        </p:nvSpPr>
        <p:spPr>
          <a:xfrm>
            <a:off x="303662" y="864136"/>
            <a:ext cx="164593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2D6A4F"/>
                </a:solidFill>
              </a:defRPr>
            </a:lvl1pPr>
          </a:lstStyle>
          <a:p>
            <a:pPr/>
            <a:r>
              <a:t>S</a:t>
            </a:r>
          </a:p>
        </p:txBody>
      </p:sp>
      <p:sp>
        <p:nvSpPr>
          <p:cNvPr id="167" name="Text 18"/>
          <p:cNvSpPr txBox="1"/>
          <p:nvPr/>
        </p:nvSpPr>
        <p:spPr>
          <a:xfrm>
            <a:off x="724285" y="930185"/>
            <a:ext cx="361188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A1A1A"/>
                </a:solidFill>
              </a:defRPr>
            </a:lvl1pPr>
          </a:lstStyle>
          <a:p>
            <a:pPr/>
            <a:r>
              <a:t>Training Strategy</a:t>
            </a:r>
          </a:p>
        </p:txBody>
      </p:sp>
      <p:sp>
        <p:nvSpPr>
          <p:cNvPr id="168" name="Text 19"/>
          <p:cNvSpPr txBox="1"/>
          <p:nvPr/>
        </p:nvSpPr>
        <p:spPr>
          <a:xfrm>
            <a:off x="724285" y="1181005"/>
            <a:ext cx="3611882" cy="1594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5A5A5A"/>
                </a:solidFill>
              </a:defRPr>
            </a:pPr>
          </a:p>
          <a:p>
            <a:pPr marL="342900" indent="-342900">
              <a:spcBef>
                <a:spcPts val="400"/>
              </a:spcBef>
              <a:buSzPct val="100000"/>
              <a:buFont typeface="Arial"/>
              <a:buChar char="•"/>
              <a:defRPr sz="1200">
                <a:solidFill>
                  <a:srgbClr val="5A5A5A"/>
                </a:solidFill>
              </a:defRPr>
            </a:pPr>
            <a:r>
              <a:t>Compute per-class loss before averaging for per class weighting based on frequency in slices</a:t>
            </a:r>
          </a:p>
          <a:p>
            <a:pPr marL="342900" indent="-342900">
              <a:spcBef>
                <a:spcPts val="400"/>
              </a:spcBef>
              <a:buSzPct val="100000"/>
              <a:buFont typeface="Arial"/>
              <a:buChar char="•"/>
              <a:defRPr sz="1200">
                <a:solidFill>
                  <a:srgbClr val="5A5A5A"/>
                </a:solidFill>
              </a:defRPr>
            </a:pPr>
            <a:r>
              <a:t>Run a 5 slice 2.5D for depth comparisons</a:t>
            </a:r>
          </a:p>
          <a:p>
            <a:pPr marL="342900" indent="-342900">
              <a:spcBef>
                <a:spcPts val="400"/>
              </a:spcBef>
              <a:buSzPct val="100000"/>
              <a:buFont typeface="Arial"/>
              <a:buChar char="•"/>
              <a:defRPr sz="1200">
                <a:solidFill>
                  <a:srgbClr val="5A5A5A"/>
                </a:solidFill>
              </a:defRPr>
            </a:pPr>
            <a:r>
              <a:t>Increase number of workers from 2 – 4+ for gpu optimization</a:t>
            </a:r>
          </a:p>
        </p:txBody>
      </p:sp>
      <p:sp>
        <p:nvSpPr>
          <p:cNvPr id="169" name="Shape 20"/>
          <p:cNvSpPr/>
          <p:nvPr/>
        </p:nvSpPr>
        <p:spPr>
          <a:xfrm>
            <a:off x="223970" y="2964565"/>
            <a:ext cx="4251960" cy="196596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70" name="Shape 21"/>
          <p:cNvSpPr/>
          <p:nvPr/>
        </p:nvSpPr>
        <p:spPr>
          <a:xfrm>
            <a:off x="223970" y="2964565"/>
            <a:ext cx="329185" cy="1965961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Shape 22"/>
          <p:cNvSpPr/>
          <p:nvPr/>
        </p:nvSpPr>
        <p:spPr>
          <a:xfrm>
            <a:off x="269690" y="3010286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Text 23"/>
          <p:cNvSpPr txBox="1"/>
          <p:nvPr/>
        </p:nvSpPr>
        <p:spPr>
          <a:xfrm>
            <a:off x="306265" y="3016304"/>
            <a:ext cx="164593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7B2D8B"/>
                </a:solidFill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173" name="Text 24"/>
          <p:cNvSpPr txBox="1"/>
          <p:nvPr/>
        </p:nvSpPr>
        <p:spPr>
          <a:xfrm>
            <a:off x="726889" y="3082353"/>
            <a:ext cx="36118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A1A1A"/>
                </a:solidFill>
              </a:defRPr>
            </a:lvl1pPr>
          </a:lstStyle>
          <a:p>
            <a:pPr/>
            <a:r>
              <a:t>Data Augmentation</a:t>
            </a:r>
          </a:p>
        </p:txBody>
      </p:sp>
      <p:sp>
        <p:nvSpPr>
          <p:cNvPr id="174" name="Text 25"/>
          <p:cNvSpPr txBox="1"/>
          <p:nvPr/>
        </p:nvSpPr>
        <p:spPr>
          <a:xfrm>
            <a:off x="726889" y="3695123"/>
            <a:ext cx="3611882" cy="8706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spcBef>
                <a:spcPts val="400"/>
              </a:spcBef>
              <a:buSzPct val="100000"/>
              <a:buChar char="•"/>
              <a:defRPr sz="1200">
                <a:solidFill>
                  <a:srgbClr val="5A5A5A"/>
                </a:solidFill>
              </a:defRPr>
            </a:pPr>
            <a:r>
              <a:t>Elastic Transform + Grid Distortion to simulate organ deformation</a:t>
            </a:r>
          </a:p>
          <a:p>
            <a:pPr marL="342900" indent="-342900">
              <a:spcBef>
                <a:spcPts val="400"/>
              </a:spcBef>
              <a:buSzPct val="100000"/>
              <a:buChar char="•"/>
              <a:defRPr sz="1200">
                <a:solidFill>
                  <a:srgbClr val="5A5A5A"/>
                </a:solidFill>
              </a:defRPr>
            </a:pPr>
            <a:r>
              <a:t>Random ROI cropping focused on non-zero mask regions</a:t>
            </a:r>
          </a:p>
        </p:txBody>
      </p:sp>
      <p:sp>
        <p:nvSpPr>
          <p:cNvPr id="175" name="Shape 20"/>
          <p:cNvSpPr/>
          <p:nvPr/>
        </p:nvSpPr>
        <p:spPr>
          <a:xfrm>
            <a:off x="4720011" y="2950097"/>
            <a:ext cx="4251961" cy="196596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</a:ln>
          <a:effectLst>
            <a:outerShdw sx="100000" sy="100000" kx="0" ky="0" algn="b" rotWithShape="0" blurRad="101600" dist="381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76" name="Shape 21"/>
          <p:cNvSpPr/>
          <p:nvPr/>
        </p:nvSpPr>
        <p:spPr>
          <a:xfrm>
            <a:off x="4720011" y="2950097"/>
            <a:ext cx="329185" cy="196596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7B2D8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Shape 22"/>
          <p:cNvSpPr/>
          <p:nvPr/>
        </p:nvSpPr>
        <p:spPr>
          <a:xfrm>
            <a:off x="4765730" y="2995816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8" name="Text 23"/>
          <p:cNvSpPr txBox="1"/>
          <p:nvPr/>
        </p:nvSpPr>
        <p:spPr>
          <a:xfrm>
            <a:off x="4802307" y="3001835"/>
            <a:ext cx="164593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7B2D8B"/>
                </a:solidFill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179" name="Text 24"/>
          <p:cNvSpPr txBox="1"/>
          <p:nvPr/>
        </p:nvSpPr>
        <p:spPr>
          <a:xfrm>
            <a:off x="5222931" y="3067884"/>
            <a:ext cx="36118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A1A1A"/>
                </a:solidFill>
              </a:defRPr>
            </a:lvl1pPr>
          </a:lstStyle>
          <a:p>
            <a:pPr/>
            <a:r>
              <a:t>Quality of Life</a:t>
            </a:r>
          </a:p>
        </p:txBody>
      </p:sp>
      <p:sp>
        <p:nvSpPr>
          <p:cNvPr id="180" name="Text 25"/>
          <p:cNvSpPr txBox="1"/>
          <p:nvPr/>
        </p:nvSpPr>
        <p:spPr>
          <a:xfrm>
            <a:off x="5222931" y="3464754"/>
            <a:ext cx="3611881" cy="1302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spcBef>
                <a:spcPts val="400"/>
              </a:spcBef>
              <a:buSzPct val="100000"/>
              <a:buFont typeface="Arial"/>
              <a:buChar char="•"/>
              <a:defRPr sz="1200">
                <a:solidFill>
                  <a:srgbClr val="5A5A5A"/>
                </a:solidFill>
              </a:defRPr>
            </a:pPr>
            <a:r>
              <a:t>Automation of Setup process for reproducibility and parallelization</a:t>
            </a:r>
          </a:p>
          <a:p>
            <a:pPr marL="342900" indent="-342900">
              <a:spcBef>
                <a:spcPts val="400"/>
              </a:spcBef>
              <a:buSzPct val="100000"/>
              <a:buFont typeface="Arial"/>
              <a:buChar char="•"/>
              <a:defRPr sz="1200">
                <a:solidFill>
                  <a:srgbClr val="5A5A5A"/>
                </a:solidFill>
              </a:defRPr>
            </a:pPr>
            <a:r>
              <a:t>Set up Tensorboard for visualizations during and post training</a:t>
            </a:r>
          </a:p>
          <a:p>
            <a:pPr marL="342900" indent="-342900">
              <a:spcBef>
                <a:spcPts val="400"/>
              </a:spcBef>
              <a:buSzPct val="100000"/>
              <a:buChar char="•"/>
              <a:defRPr sz="1200">
                <a:solidFill>
                  <a:srgbClr val="5A5A5A"/>
                </a:solidFill>
              </a:defRPr>
            </a:pPr>
            <a:r>
              <a:t>Checkpointing and tmux for crashing &amp; internet connectivity measures</a:t>
            </a:r>
          </a:p>
        </p:txBody>
      </p:sp>
      <p:sp>
        <p:nvSpPr>
          <p:cNvPr id="181" name="TextBox 35"/>
          <p:cNvSpPr txBox="1"/>
          <p:nvPr/>
        </p:nvSpPr>
        <p:spPr>
          <a:xfrm>
            <a:off x="8830559" y="4898571"/>
            <a:ext cx="164593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Text 1"/>
          <p:cNvSpPr txBox="1"/>
          <p:nvPr/>
        </p:nvSpPr>
        <p:spPr>
          <a:xfrm>
            <a:off x="411479" y="132949"/>
            <a:ext cx="8138161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07 |Questions?</a:t>
            </a:r>
          </a:p>
        </p:txBody>
      </p:sp>
      <p:sp>
        <p:nvSpPr>
          <p:cNvPr id="185" name="TextBox 9"/>
          <p:cNvSpPr txBox="1"/>
          <p:nvPr/>
        </p:nvSpPr>
        <p:spPr>
          <a:xfrm>
            <a:off x="8816727" y="4898571"/>
            <a:ext cx="178425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