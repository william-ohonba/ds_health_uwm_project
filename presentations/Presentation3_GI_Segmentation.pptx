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BCE Loss — Training vs. Validation (30 Epochs)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6B1E3C"/>
            </a:solidFill>
            <a:ln w="31750" cap="flat">
              <a:solidFill>
                <a:srgbClr val="6B1E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1E3C"/>
              </a:solidFill>
              <a:ln w="9525" cap="flat">
                <a:solidFill>
                  <a:srgbClr val="6B1E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0.698</c:v>
                </c:pt>
                <c:pt idx="1">
                  <c:v>0.512</c:v>
                </c:pt>
                <c:pt idx="2">
                  <c:v>0.389</c:v>
                </c:pt>
                <c:pt idx="3">
                  <c:v>0.301</c:v>
                </c:pt>
                <c:pt idx="4">
                  <c:v>0.248</c:v>
                </c:pt>
                <c:pt idx="5">
                  <c:v>0.211</c:v>
                </c:pt>
                <c:pt idx="6">
                  <c:v>0.185</c:v>
                </c:pt>
                <c:pt idx="7">
                  <c:v>0.165</c:v>
                </c:pt>
                <c:pt idx="8">
                  <c:v>0.15</c:v>
                </c:pt>
                <c:pt idx="9">
                  <c:v>0.138</c:v>
                </c:pt>
                <c:pt idx="10">
                  <c:v>0.129</c:v>
                </c:pt>
                <c:pt idx="11">
                  <c:v>0.121</c:v>
                </c:pt>
                <c:pt idx="12">
                  <c:v>0.115</c:v>
                </c:pt>
                <c:pt idx="13">
                  <c:v>0.11</c:v>
                </c:pt>
                <c:pt idx="14">
                  <c:v>0.105</c:v>
                </c:pt>
                <c:pt idx="15">
                  <c:v>0.101</c:v>
                </c:pt>
                <c:pt idx="16">
                  <c:v>0.098</c:v>
                </c:pt>
                <c:pt idx="17">
                  <c:v>0.095</c:v>
                </c:pt>
                <c:pt idx="18">
                  <c:v>0.093</c:v>
                </c:pt>
                <c:pt idx="19">
                  <c:v>0.091</c:v>
                </c:pt>
                <c:pt idx="20">
                  <c:v>0.089</c:v>
                </c:pt>
                <c:pt idx="21">
                  <c:v>0.088</c:v>
                </c:pt>
                <c:pt idx="22">
                  <c:v>0.087</c:v>
                </c:pt>
                <c:pt idx="23">
                  <c:v>0.086</c:v>
                </c:pt>
                <c:pt idx="24">
                  <c:v>0.085</c:v>
                </c:pt>
                <c:pt idx="25">
                  <c:v>0.084</c:v>
                </c:pt>
                <c:pt idx="26">
                  <c:v>0.083</c:v>
                </c:pt>
                <c:pt idx="27">
                  <c:v>0.082</c:v>
                </c:pt>
                <c:pt idx="28">
                  <c:v>0.082</c:v>
                </c:pt>
                <c:pt idx="29">
                  <c:v>0.081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CEB888"/>
            </a:solidFill>
            <a:ln w="31750" cap="flat">
              <a:solidFill>
                <a:srgbClr val="CEB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EB888"/>
              </a:solidFill>
              <a:ln w="9525" cap="flat">
                <a:solidFill>
                  <a:srgbClr val="CEB8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0.721</c:v>
                </c:pt>
                <c:pt idx="1">
                  <c:v>0.548</c:v>
                </c:pt>
                <c:pt idx="2">
                  <c:v>0.421</c:v>
                </c:pt>
                <c:pt idx="3">
                  <c:v>0.338</c:v>
                </c:pt>
                <c:pt idx="4">
                  <c:v>0.282</c:v>
                </c:pt>
                <c:pt idx="5">
                  <c:v>0.245</c:v>
                </c:pt>
                <c:pt idx="6">
                  <c:v>0.22</c:v>
                </c:pt>
                <c:pt idx="7">
                  <c:v>0.201</c:v>
                </c:pt>
                <c:pt idx="8">
                  <c:v>0.186</c:v>
                </c:pt>
                <c:pt idx="9">
                  <c:v>0.174</c:v>
                </c:pt>
                <c:pt idx="10">
                  <c:v>0.164</c:v>
                </c:pt>
                <c:pt idx="11">
                  <c:v>0.156</c:v>
                </c:pt>
                <c:pt idx="12">
                  <c:v>0.15</c:v>
                </c:pt>
                <c:pt idx="13">
                  <c:v>0.145</c:v>
                </c:pt>
                <c:pt idx="14">
                  <c:v>0.141</c:v>
                </c:pt>
                <c:pt idx="15">
                  <c:v>0.138</c:v>
                </c:pt>
                <c:pt idx="16">
                  <c:v>0.135</c:v>
                </c:pt>
                <c:pt idx="17">
                  <c:v>0.133</c:v>
                </c:pt>
                <c:pt idx="18">
                  <c:v>0.131</c:v>
                </c:pt>
                <c:pt idx="19">
                  <c:v>0.13</c:v>
                </c:pt>
                <c:pt idx="20">
                  <c:v>0.129</c:v>
                </c:pt>
                <c:pt idx="21">
                  <c:v>0.128</c:v>
                </c:pt>
                <c:pt idx="22">
                  <c:v>0.127</c:v>
                </c:pt>
                <c:pt idx="23">
                  <c:v>0.127</c:v>
                </c:pt>
                <c:pt idx="24">
                  <c:v>0.126</c:v>
                </c:pt>
                <c:pt idx="25">
                  <c:v>0.126</c:v>
                </c:pt>
                <c:pt idx="26">
                  <c:v>0.125</c:v>
                </c:pt>
                <c:pt idx="27">
                  <c:v>0.125</c:v>
                </c:pt>
                <c:pt idx="28">
                  <c:v>0.125</c:v>
                </c:pt>
                <c:pt idx="29">
                  <c:v>0.124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73152" cy="3108960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UW-Madison GI Tract Image Segmentation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— Model Architecture &amp; Training Results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Ohonba   ·   Sofia Rojas   ·   Peyton Wade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State University   | 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75488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" y="86868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868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 &amp; Update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75488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" y="219456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78408" y="21945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(U-Net)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520440"/>
            <a:ext cx="475488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6968" y="352044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" y="35204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Results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75488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68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30368" y="86868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21808" y="868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Interpretation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194560"/>
            <a:ext cx="475488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30368" y="219456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1808" y="21945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75488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30368" y="352044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21808" y="35204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Remarks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Recap &amp; Update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365760"/>
          </a:xfrm>
          <a:prstGeom prst="rect">
            <a:avLst/>
          </a:prstGeom>
          <a:solidFill>
            <a:srgbClr val="A0243C"/>
          </a:solidFill>
          <a:ln w="12700">
            <a:solidFill>
              <a:srgbClr val="A024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semantic segmentation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GI tract organs (stomach, small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bowel, large bowel) from MRI scans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real-time adaptive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radiotherapy.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22960"/>
            <a:ext cx="4023360" cy="365760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Last Presentation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61872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DataLoader fully implemented &amp; verified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Preprocessing pipeline complete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Augmentation strategy defined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U-Net baseline trained (initial run)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Dice + Hausdorff metrics tracked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944368"/>
            <a:ext cx="1965960" cy="960120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9443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38,496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3447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Slices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944368"/>
            <a:ext cx="1965960" cy="960120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29443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68880" y="3447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944368"/>
            <a:ext cx="1965960" cy="960120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29443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17720" y="3447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944368"/>
            <a:ext cx="1965960" cy="960120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9443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 GB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3447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Model Architecture — U-Net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188720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[B,1,320,320]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00200" y="1005840"/>
            <a:ext cx="1097280" cy="475488"/>
          </a:xfrm>
          <a:prstGeom prst="rect">
            <a:avLst/>
          </a:prstGeom>
          <a:solidFill>
            <a:srgbClr val="8B2A48"/>
          </a:solidFill>
          <a:ln w="12700">
            <a:solidFill>
              <a:srgbClr val="8B2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0058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243584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207008"/>
            <a:ext cx="1097280" cy="457200"/>
          </a:xfrm>
          <a:prstGeom prst="rect">
            <a:avLst/>
          </a:prstGeom>
          <a:solidFill>
            <a:srgbClr val="7A2040"/>
          </a:solidFill>
          <a:ln w="12700">
            <a:solidFill>
              <a:srgbClr val="7A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207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1435608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408176"/>
            <a:ext cx="1097280" cy="438912"/>
          </a:xfrm>
          <a:prstGeom prst="rect">
            <a:avLst/>
          </a:prstGeom>
          <a:solidFill>
            <a:srgbClr val="681638"/>
          </a:solidFill>
          <a:ln w="12700">
            <a:solidFill>
              <a:srgbClr val="6816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40817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1627632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1609344"/>
            <a:ext cx="1097280" cy="420624"/>
          </a:xfrm>
          <a:prstGeom prst="rect">
            <a:avLst/>
          </a:prstGeom>
          <a:solidFill>
            <a:srgbClr val="3D0C1F"/>
          </a:solidFill>
          <a:ln w="12700">
            <a:solidFill>
              <a:srgbClr val="3D0C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60934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00200" y="1243584"/>
            <a:ext cx="0" cy="1280160"/>
          </a:xfrm>
          <a:prstGeom prst="line">
            <a:avLst/>
          </a:prstGeom>
          <a:noFill/>
          <a:ln w="12700">
            <a:solidFill>
              <a:srgbClr val="CEB88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60120" y="1417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956816"/>
            <a:ext cx="1097280" cy="420624"/>
          </a:xfrm>
          <a:prstGeom prst="rect">
            <a:avLst/>
          </a:prstGeom>
          <a:solidFill>
            <a:srgbClr val="681638"/>
          </a:solidFill>
          <a:ln w="12700">
            <a:solidFill>
              <a:srgbClr val="6816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956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167128"/>
            <a:ext cx="13716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755648"/>
            <a:ext cx="1097280" cy="438912"/>
          </a:xfrm>
          <a:prstGeom prst="rect">
            <a:avLst/>
          </a:prstGeom>
          <a:solidFill>
            <a:srgbClr val="7A2040"/>
          </a:solidFill>
          <a:ln w="12700">
            <a:solidFill>
              <a:srgbClr val="7A2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75564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975104"/>
            <a:ext cx="13716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554480"/>
            <a:ext cx="1097280" cy="457200"/>
          </a:xfrm>
          <a:prstGeom prst="rect">
            <a:avLst/>
          </a:prstGeom>
          <a:solidFill>
            <a:srgbClr val="8B2A48"/>
          </a:solidFill>
          <a:ln w="12700">
            <a:solidFill>
              <a:srgbClr val="8B2A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26680" y="1005840"/>
            <a:ext cx="1188720" cy="475488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0058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[B,3,320,320]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606040"/>
            <a:ext cx="27889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606040"/>
            <a:ext cx="2788920" cy="329184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060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" y="2999232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[B, 1, 320, 320]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float32 (μ=0, σ=1)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[B, 3, 320, 320]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binary sigmoid masks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0" y="2606040"/>
            <a:ext cx="27889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606040"/>
            <a:ext cx="2788920" cy="329184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6060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Details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999232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U-Net (encoder-decoder)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preserve edges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 + ReLU per block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backbone: EfficientNet-B4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2200" y="2606040"/>
            <a:ext cx="27889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2606040"/>
            <a:ext cx="2788920" cy="329184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6060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2.5D Extension (Planned)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81928" y="2999232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N=3 adjacent slices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input channels [B, 3, H, W]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depth context without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convolution overhead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Training &amp; Validation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926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926080" cy="329184"/>
          </a:xfrm>
          <a:prstGeom prst="rect">
            <a:avLst/>
          </a:prstGeom>
          <a:solidFill>
            <a:srgbClr val="A0243C"/>
          </a:solidFill>
          <a:ln w="12700">
            <a:solidFill>
              <a:srgbClr val="A024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17043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AdamW (lr=1e-4)
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CosineAnnealing
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  |  Workers: 4
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Run: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
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BCEWithLogitsLoss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77724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777240"/>
            <a:ext cx="5394960" cy="329184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7772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(Epoch 30 — Validation Set)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170432"/>
          <a:ext cx="5212080" cy="141732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280160"/>
                <a:gridCol w="17373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Hausdorff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Stomach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Bowel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7.84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shape variability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Bowel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edge blurring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6.09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Score: 0.756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Chart 0" descr=""/>
          <p:cNvGraphicFramePr/>
          <p:nvPr/>
        </p:nvGraphicFramePr>
        <p:xfrm>
          <a:off x="228600" y="2834640"/>
          <a:ext cx="8686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Preliminary Interpretation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5196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261872"/>
            <a:ext cx="39776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segmentation is strongest (Dice 0.842) — clear fluid-filled boundary in MRI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converge smoothly; no training instability detected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normalization (calcStats.json) consistent across train/val split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pipeline verified — images and masks align correctly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519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251960" cy="36576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Struggling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261872"/>
            <a:ext cx="39776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bowel: High shape variability leads to boundary blur (HD: 7.84 mm)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slices introduce false positives — background class dominance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tends to over-segment large bowel at organ edges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U-Net lacks depth context — adjacent slices not yet leveraged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Planned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329184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859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8961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CLAHE to normalize MRI scanner intensity drift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target resolution from 320→448 via upscale + crop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329184" cy="1965960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6868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859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8961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66360" y="128016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2.5D: stack 3 adjacent slices as input channels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backbone to EfficientNet-B5 for richer feature maps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329184" cy="1965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1752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" y="3008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0449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Dice Loss component: Combined BCE + Dice (weighted 50/50)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weighted sampling to address empty-slice imbalance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329184" cy="19659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01752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3008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0449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66360" y="342900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Transform + Grid Distortion to simulate organ deformation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ROI cropping focused on non-zero mask regions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Final Remarks &amp; Next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78408"/>
            <a:ext cx="256032" cy="256032"/>
          </a:xfrm>
          <a:prstGeom prst="ellipse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234440"/>
            <a:ext cx="0" cy="548640"/>
          </a:xfrm>
          <a:prstGeom prst="line">
            <a:avLst/>
          </a:prstGeom>
          <a:noFill/>
          <a:ln w="12700">
            <a:solidFill>
              <a:srgbClr val="CEB888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685800" y="868680"/>
            <a:ext cx="1325880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86868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868680"/>
            <a:ext cx="6583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8686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Dice Loss + rebalance sampler for empty slices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256032" cy="256032"/>
          </a:xfrm>
          <a:prstGeom prst="ellipse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2039112"/>
            <a:ext cx="0" cy="548640"/>
          </a:xfrm>
          <a:prstGeom prst="line">
            <a:avLst/>
          </a:prstGeom>
          <a:noFill/>
          <a:ln w="12700">
            <a:solidFill>
              <a:srgbClr val="CEB888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685800" y="1673352"/>
            <a:ext cx="1325880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67335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1673352"/>
            <a:ext cx="6583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67335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2.5D U-Net; re-run training with CLAHE + augmentations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256032" cy="256032"/>
          </a:xfrm>
          <a:prstGeom prst="ellipse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843784"/>
            <a:ext cx="0" cy="548640"/>
          </a:xfrm>
          <a:prstGeom prst="line">
            <a:avLst/>
          </a:prstGeom>
          <a:noFill/>
          <a:ln w="12700">
            <a:solidFill>
              <a:srgbClr val="CEB888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685800" y="2478024"/>
            <a:ext cx="1325880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7802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2478024"/>
            <a:ext cx="6583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47802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held-out set; compare Dice / Hausdorff across model versions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4320" y="3392424"/>
            <a:ext cx="256032" cy="256032"/>
          </a:xfrm>
          <a:prstGeom prst="ellipse">
            <a:avLst/>
          </a:prstGeom>
          <a:solidFill>
            <a:srgbClr val="CEB888"/>
          </a:solidFill>
          <a:ln w="12700">
            <a:solidFill>
              <a:srgbClr val="CEB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282696"/>
            <a:ext cx="1325880" cy="475488"/>
          </a:xfrm>
          <a:prstGeom prst="rect">
            <a:avLst/>
          </a:prstGeom>
          <a:solidFill>
            <a:srgbClr val="6B1E3C"/>
          </a:solidFill>
          <a:ln w="12700">
            <a:solidFill>
              <a:srgbClr val="6B1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8269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3282696"/>
            <a:ext cx="6583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328269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submission; finalize interpretation and ablation study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CEB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E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Instructors:  Is combined BCE + Dice loss preferable over Focal Loss for this class-imbalance setting?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 Tract Segmentation – Presentation 3</dc:title>
  <dc:subject>PptxGenJS Presentation</dc:subject>
  <dc:creator>PptxGenJS</dc:creator>
  <cp:lastModifiedBy>PptxGenJS</cp:lastModifiedBy>
  <cp:revision>1</cp:revision>
  <dcterms:created xsi:type="dcterms:W3CDTF">2026-03-27T19:48:02Z</dcterms:created>
  <dcterms:modified xsi:type="dcterms:W3CDTF">2026-03-27T19:48:02Z</dcterms:modified>
</cp:coreProperties>
</file>